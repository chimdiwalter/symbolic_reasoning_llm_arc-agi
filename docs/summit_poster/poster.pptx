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795" y="18037111"/>
            <a:ext cx="7804286" cy="914787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4034" y="30308026"/>
            <a:ext cx="7913295" cy="14484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3938" y="467733"/>
            <a:ext cx="29368136" cy="4530204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7288" y="6782754"/>
            <a:ext cx="9367047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7288" y="17452827"/>
            <a:ext cx="9367047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7288" y="30549134"/>
            <a:ext cx="9367047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1280" y="6678898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1280" y="21395060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413274" y="6790205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413274" y="21301285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413274" y="29144618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413274" y="35795940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_synthetic_v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3879" y="7325610"/>
            <a:ext cx="8569876" cy="3247532"/>
          </a:xfrm>
          <a:prstGeom prst="rect">
            <a:avLst/>
          </a:prstGeom>
        </p:spPr>
      </p:pic>
      <p:pic>
        <p:nvPicPr>
          <p:cNvPr id="15" name="Picture 14" descr="fig_funnel_reach_v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3879" y="12279711"/>
            <a:ext cx="8569876" cy="5683181"/>
          </a:xfrm>
          <a:prstGeom prst="rect">
            <a:avLst/>
          </a:prstGeom>
        </p:spPr>
      </p:pic>
      <p:pic>
        <p:nvPicPr>
          <p:cNvPr id="16" name="Picture 15" descr="fig_kf89_training_demonstrati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3879" y="22041583"/>
            <a:ext cx="8569876" cy="4826193"/>
          </a:xfrm>
          <a:prstGeom prst="rect">
            <a:avLst/>
          </a:prstGeom>
        </p:spPr>
      </p:pic>
      <p:pic>
        <p:nvPicPr>
          <p:cNvPr id="17" name="Picture 16" descr="fig_kf89_variant_admiss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3879" y="27332117"/>
            <a:ext cx="8569876" cy="7757994"/>
          </a:xfrm>
          <a:prstGeom prst="rect">
            <a:avLst/>
          </a:prstGeom>
        </p:spPr>
      </p:pic>
      <p:pic>
        <p:nvPicPr>
          <p:cNvPr id="18" name="Picture 17" descr="fig_negative_control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75739" y="7436908"/>
            <a:ext cx="8569876" cy="100132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21849" y="932217"/>
            <a:ext cx="23283307" cy="1009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50" b="1" i="0">
                <a:solidFill>
                  <a:srgbClr val="0B0B0B"/>
                </a:solidFill>
                <a:latin typeface="Arial"/>
              </a:rPr>
              <a:t>When Search Is Not Enough:</a:t>
            </a:r>
            <a:r>
              <a:rPr sz="7950" b="1" i="0">
                <a:solidFill>
                  <a:srgbClr val="0B0B0B"/>
                </a:solidFill>
                <a:latin typeface="Arial"/>
              </a:rPr>
              <a:t> </a:t>
            </a:r>
            <a:r>
              <a:rPr sz="7950" b="1" i="0">
                <a:solidFill>
                  <a:srgbClr val="0B0B0B"/>
                </a:solidFill>
                <a:latin typeface="Arial"/>
              </a:rPr>
              <a:t>Diagnosing 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103" y="2197467"/>
            <a:ext cx="25114855" cy="1009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50" b="1" i="0">
                <a:solidFill>
                  <a:srgbClr val="0B0B0B"/>
                </a:solidFill>
                <a:latin typeface="Arial"/>
              </a:rPr>
              <a:t>Before Constructing Verified Reasoning 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6767" y="3324281"/>
            <a:ext cx="6542409" cy="625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920" b="0" i="0">
                <a:solidFill>
                  <a:srgbClr val="0B0B0B"/>
                </a:solidFill>
                <a:latin typeface="Arial"/>
              </a:rPr>
              <a:t>Chimdi Walter Ndubuisi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7170" y="3324281"/>
            <a:ext cx="5983006" cy="625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920" b="0" i="0">
                <a:solidFill>
                  <a:srgbClr val="0B0B0B"/>
                </a:solidFill>
                <a:latin typeface="Arial"/>
              </a:rPr>
              <a:t>University of Missouri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4452" y="3960702"/>
            <a:ext cx="20138001" cy="544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0" i="0">
                <a:solidFill>
                  <a:srgbClr val="52514E"/>
                </a:solidFill>
                <a:latin typeface="Arial"/>
              </a:rPr>
              <a:t>CORA on ARC-AGI-2</a:t>
            </a:r>
            <a:r>
              <a:rPr sz="4280" b="0" i="1">
                <a:solidFill>
                  <a:srgbClr val="52514E"/>
                </a:solidFill>
                <a:latin typeface="Arial"/>
              </a:rPr>
              <a:t> </a:t>
            </a:r>
            <a:r>
              <a:rPr sz="4280" b="0" i="1">
                <a:solidFill>
                  <a:srgbClr val="52514E"/>
                </a:solidFill>
                <a:latin typeface="Arial"/>
              </a:rPr>
              <a:t>·</a:t>
            </a:r>
            <a:r>
              <a:rPr sz="3790" b="0" i="0">
                <a:solidFill>
                  <a:srgbClr val="52514E"/>
                </a:solidFill>
                <a:latin typeface="Arial"/>
              </a:rPr>
              <a:t> </a:t>
            </a:r>
            <a:r>
              <a:rPr sz="3790" b="0" i="0">
                <a:solidFill>
                  <a:srgbClr val="52514E"/>
                </a:solidFill>
                <a:latin typeface="Arial"/>
              </a:rPr>
              <a:t>development results</a:t>
            </a:r>
            <a:r>
              <a:rPr sz="4280" b="0" i="1">
                <a:solidFill>
                  <a:srgbClr val="52514E"/>
                </a:solidFill>
                <a:latin typeface="Arial"/>
              </a:rPr>
              <a:t> </a:t>
            </a:r>
            <a:r>
              <a:rPr sz="4280" b="0" i="1">
                <a:solidFill>
                  <a:srgbClr val="52514E"/>
                </a:solidFill>
                <a:latin typeface="Arial"/>
              </a:rPr>
              <a:t>·</a:t>
            </a:r>
            <a:r>
              <a:rPr sz="3790" b="0" i="0">
                <a:solidFill>
                  <a:srgbClr val="52514E"/>
                </a:solidFill>
                <a:latin typeface="Arial"/>
              </a:rPr>
              <a:t> </a:t>
            </a:r>
            <a:r>
              <a:rPr sz="3790" b="0" i="0">
                <a:solidFill>
                  <a:srgbClr val="52514E"/>
                </a:solidFill>
                <a:latin typeface="Arial"/>
              </a:rPr>
              <a:t>ARC Prize Research Summit, 23 October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1849" y="932217"/>
            <a:ext cx="23283307" cy="1009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50" b="1" i="0">
                <a:solidFill>
                  <a:srgbClr val="0B0B0B"/>
                </a:solidFill>
                <a:latin typeface="Arial"/>
              </a:rPr>
              <a:t>When Search Is Not Enough:</a:t>
            </a:r>
            <a:r>
              <a:rPr sz="7950" b="1" i="0">
                <a:solidFill>
                  <a:srgbClr val="0B0B0B"/>
                </a:solidFill>
                <a:latin typeface="Arial"/>
              </a:rPr>
              <a:t> </a:t>
            </a:r>
            <a:r>
              <a:rPr sz="7950" b="1" i="0">
                <a:solidFill>
                  <a:srgbClr val="0B0B0B"/>
                </a:solidFill>
                <a:latin typeface="Arial"/>
              </a:rPr>
              <a:t>Diagnosing 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103" y="2197467"/>
            <a:ext cx="25114855" cy="1009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950" b="1" i="0">
                <a:solidFill>
                  <a:srgbClr val="0B0B0B"/>
                </a:solidFill>
                <a:latin typeface="Arial"/>
              </a:rPr>
              <a:t>Before Constructing Verified Reasoning Capabilities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6767" y="3324281"/>
            <a:ext cx="6542409" cy="625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920" b="0" i="0">
                <a:solidFill>
                  <a:srgbClr val="0B0B0B"/>
                </a:solidFill>
                <a:latin typeface="Arial"/>
              </a:rPr>
              <a:t>Chimdi Walter Ndubuisi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7170" y="3324281"/>
            <a:ext cx="5983006" cy="625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920" b="0" i="0">
                <a:solidFill>
                  <a:srgbClr val="0B0B0B"/>
                </a:solidFill>
                <a:latin typeface="Arial"/>
              </a:rPr>
              <a:t>University of Missouri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4452" y="3960702"/>
            <a:ext cx="20138001" cy="544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0" i="0">
                <a:solidFill>
                  <a:srgbClr val="52514E"/>
                </a:solidFill>
                <a:latin typeface="Arial"/>
              </a:rPr>
              <a:t>CORA on ARC-AGI-2</a:t>
            </a:r>
            <a:r>
              <a:rPr sz="4280" b="0" i="1">
                <a:solidFill>
                  <a:srgbClr val="52514E"/>
                </a:solidFill>
                <a:latin typeface="Arial"/>
              </a:rPr>
              <a:t> </a:t>
            </a:r>
            <a:r>
              <a:rPr sz="4280" b="0" i="1">
                <a:solidFill>
                  <a:srgbClr val="52514E"/>
                </a:solidFill>
                <a:latin typeface="Arial"/>
              </a:rPr>
              <a:t>·</a:t>
            </a:r>
            <a:r>
              <a:rPr sz="3790" b="0" i="0">
                <a:solidFill>
                  <a:srgbClr val="52514E"/>
                </a:solidFill>
                <a:latin typeface="Arial"/>
              </a:rPr>
              <a:t> </a:t>
            </a:r>
            <a:r>
              <a:rPr sz="3790" b="0" i="0">
                <a:solidFill>
                  <a:srgbClr val="52514E"/>
                </a:solidFill>
                <a:latin typeface="Arial"/>
              </a:rPr>
              <a:t>development results</a:t>
            </a:r>
            <a:r>
              <a:rPr sz="4280" b="0" i="1">
                <a:solidFill>
                  <a:srgbClr val="52514E"/>
                </a:solidFill>
                <a:latin typeface="Arial"/>
              </a:rPr>
              <a:t> </a:t>
            </a:r>
            <a:r>
              <a:rPr sz="4280" b="0" i="1">
                <a:solidFill>
                  <a:srgbClr val="52514E"/>
                </a:solidFill>
                <a:latin typeface="Arial"/>
              </a:rPr>
              <a:t>·</a:t>
            </a:r>
            <a:r>
              <a:rPr sz="3790" b="0" i="0">
                <a:solidFill>
                  <a:srgbClr val="52514E"/>
                </a:solidFill>
                <a:latin typeface="Arial"/>
              </a:rPr>
              <a:t> </a:t>
            </a:r>
            <a:r>
              <a:rPr sz="3790" b="0" i="0">
                <a:solidFill>
                  <a:srgbClr val="52514E"/>
                </a:solidFill>
                <a:latin typeface="Arial"/>
              </a:rPr>
              <a:t>ARC Prize Research Summit, 23 October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997" y="5987210"/>
            <a:ext cx="3042789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The 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010" y="7159356"/>
            <a:ext cx="8692566" cy="4327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10" b="1" i="0">
                <a:solidFill>
                  <a:srgbClr val="0B0B0B"/>
                </a:solidFill>
                <a:latin typeface="Arial"/>
              </a:rPr>
              <a:t>How</a:t>
            </a:r>
            <a:r>
              <a:rPr sz="3410" b="1" i="0">
                <a:solidFill>
                  <a:srgbClr val="0B0B0B"/>
                </a:solidFill>
                <a:latin typeface="Arial"/>
              </a:rPr>
              <a:t> </a:t>
            </a:r>
            <a:r>
              <a:rPr sz="3410" b="1" i="0">
                <a:solidFill>
                  <a:srgbClr val="0B0B0B"/>
                </a:solidFill>
                <a:latin typeface="Arial"/>
              </a:rPr>
              <a:t>can</a:t>
            </a:r>
            <a:r>
              <a:rPr sz="3410" b="1" i="0">
                <a:solidFill>
                  <a:srgbClr val="0B0B0B"/>
                </a:solidFill>
                <a:latin typeface="Arial"/>
              </a:rPr>
              <a:t> </a:t>
            </a:r>
            <a:r>
              <a:rPr sz="3410" b="1" i="0">
                <a:solidFill>
                  <a:srgbClr val="0B0B0B"/>
                </a:solidFill>
                <a:latin typeface="Arial"/>
              </a:rPr>
              <a:t>a</a:t>
            </a:r>
            <a:r>
              <a:rPr sz="3410" b="1" i="0">
                <a:solidFill>
                  <a:srgbClr val="0B0B0B"/>
                </a:solidFill>
                <a:latin typeface="Arial"/>
              </a:rPr>
              <a:t> </a:t>
            </a:r>
            <a:r>
              <a:rPr sz="3410" b="1" i="0">
                <a:solidFill>
                  <a:srgbClr val="0B0B0B"/>
                </a:solidFill>
                <a:latin typeface="Arial"/>
              </a:rPr>
              <a:t>reasoning</a:t>
            </a:r>
            <a:r>
              <a:rPr sz="3410" b="1" i="0">
                <a:solidFill>
                  <a:srgbClr val="0B0B0B"/>
                </a:solidFill>
                <a:latin typeface="Arial"/>
              </a:rPr>
              <a:t> </a:t>
            </a:r>
            <a:r>
              <a:rPr sz="3410" b="1" i="0">
                <a:solidFill>
                  <a:srgbClr val="0B0B0B"/>
                </a:solidFill>
                <a:latin typeface="Arial"/>
              </a:rPr>
              <a:t>system</a:t>
            </a:r>
            <a:r>
              <a:rPr sz="3410" b="1" i="0">
                <a:solidFill>
                  <a:srgbClr val="0B0B0B"/>
                </a:solidFill>
                <a:latin typeface="Arial"/>
              </a:rPr>
              <a:t> </a:t>
            </a:r>
            <a:r>
              <a:rPr sz="3410" b="1" i="0">
                <a:solidFill>
                  <a:srgbClr val="0B0B0B"/>
                </a:solidFill>
                <a:latin typeface="Arial"/>
              </a:rPr>
              <a:t>know</a:t>
            </a:r>
            <a:r>
              <a:rPr sz="3410" b="1" i="0">
                <a:solidFill>
                  <a:srgbClr val="0B0B0B"/>
                </a:solidFill>
                <a:latin typeface="Arial"/>
              </a:rPr>
              <a:t> </a:t>
            </a:r>
            <a:r>
              <a:rPr sz="3410" b="1" i="0">
                <a:solidFill>
                  <a:srgbClr val="0B0B0B"/>
                </a:solidFill>
                <a:latin typeface="Arial"/>
              </a:rPr>
              <a:t>when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010" y="7716073"/>
            <a:ext cx="8692566" cy="4327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10" b="1" i="0">
                <a:solidFill>
                  <a:srgbClr val="0B0B0B"/>
                </a:solidFill>
                <a:latin typeface="Arial"/>
              </a:rPr>
              <a:t>its</a:t>
            </a:r>
            <a:r>
              <a:rPr sz="3410" b="1" i="0">
                <a:solidFill>
                  <a:srgbClr val="0B0B0B"/>
                </a:solidFill>
                <a:latin typeface="Arial"/>
              </a:rPr>
              <a:t> </a:t>
            </a:r>
            <a:r>
              <a:rPr sz="3410" b="1" i="0">
                <a:solidFill>
                  <a:srgbClr val="0B0B0B"/>
                </a:solidFill>
                <a:latin typeface="Arial"/>
              </a:rPr>
              <a:t>existing</a:t>
            </a:r>
            <a:r>
              <a:rPr sz="3410" b="1" i="0">
                <a:solidFill>
                  <a:srgbClr val="0B0B0B"/>
                </a:solidFill>
                <a:latin typeface="Arial"/>
              </a:rPr>
              <a:t> </a:t>
            </a:r>
            <a:r>
              <a:rPr sz="3410" b="1" i="0">
                <a:solidFill>
                  <a:srgbClr val="0B0B0B"/>
                </a:solidFill>
                <a:latin typeface="Arial"/>
              </a:rPr>
              <a:t>way</a:t>
            </a:r>
            <a:r>
              <a:rPr sz="3410" b="1" i="0">
                <a:solidFill>
                  <a:srgbClr val="0B0B0B"/>
                </a:solidFill>
                <a:latin typeface="Arial"/>
              </a:rPr>
              <a:t> </a:t>
            </a:r>
            <a:r>
              <a:rPr sz="3410" b="1" i="0">
                <a:solidFill>
                  <a:srgbClr val="0B0B0B"/>
                </a:solidFill>
                <a:latin typeface="Arial"/>
              </a:rPr>
              <a:t>of</a:t>
            </a:r>
            <a:r>
              <a:rPr sz="3410" b="1" i="0">
                <a:solidFill>
                  <a:srgbClr val="0B0B0B"/>
                </a:solidFill>
                <a:latin typeface="Arial"/>
              </a:rPr>
              <a:t> </a:t>
            </a:r>
            <a:r>
              <a:rPr sz="3410" b="1" i="0">
                <a:solidFill>
                  <a:srgbClr val="0B0B0B"/>
                </a:solidFill>
                <a:latin typeface="Arial"/>
              </a:rPr>
              <a:t>solving</a:t>
            </a:r>
            <a:r>
              <a:rPr sz="3410" b="1" i="0">
                <a:solidFill>
                  <a:srgbClr val="0B0B0B"/>
                </a:solidFill>
                <a:latin typeface="Arial"/>
              </a:rPr>
              <a:t> </a:t>
            </a:r>
            <a:r>
              <a:rPr sz="3410" b="1" i="0">
                <a:solidFill>
                  <a:srgbClr val="0B0B0B"/>
                </a:solidFill>
                <a:latin typeface="Arial"/>
              </a:rPr>
              <a:t>problems</a:t>
            </a:r>
            <a:r>
              <a:rPr sz="3410" b="1" i="0">
                <a:solidFill>
                  <a:srgbClr val="0B0B0B"/>
                </a:solidFill>
                <a:latin typeface="Arial"/>
              </a:rPr>
              <a:t> </a:t>
            </a:r>
            <a:r>
              <a:rPr sz="3410" b="1" i="0">
                <a:solidFill>
                  <a:srgbClr val="0B0B0B"/>
                </a:solidFill>
                <a:latin typeface="Arial"/>
              </a:rPr>
              <a:t>is</a:t>
            </a:r>
            <a:r>
              <a:rPr sz="3410" b="1" i="0">
                <a:solidFill>
                  <a:srgbClr val="0B0B0B"/>
                </a:solidFill>
                <a:latin typeface="Arial"/>
              </a:rPr>
              <a:t> </a:t>
            </a:r>
            <a:r>
              <a:rPr sz="3410" b="1" i="0">
                <a:solidFill>
                  <a:srgbClr val="0B0B0B"/>
                </a:solidFill>
                <a:latin typeface="Arial"/>
              </a:rPr>
              <a:t>in-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010" y="8272789"/>
            <a:ext cx="8692566" cy="4327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10" b="1" i="0">
                <a:solidFill>
                  <a:srgbClr val="0B0B0B"/>
                </a:solidFill>
                <a:latin typeface="Arial"/>
              </a:rPr>
              <a:t>adequate, and acquire a better one without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010" y="8829493"/>
            <a:ext cx="8692565" cy="4327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10" b="1" i="0">
                <a:solidFill>
                  <a:srgbClr val="0B0B0B"/>
                </a:solidFill>
                <a:latin typeface="Arial"/>
              </a:rPr>
              <a:t>compromising the evidence used to judge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010" y="9386210"/>
            <a:ext cx="579578" cy="4327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10" b="1" i="0">
                <a:solidFill>
                  <a:srgbClr val="0B0B0B"/>
                </a:solidFill>
                <a:latin typeface="Arial"/>
              </a:rPr>
              <a:t>it?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010" y="10089802"/>
            <a:ext cx="7015358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A failed solve can need different responses: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7210" y="10557950"/>
            <a:ext cx="3504988" cy="3608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•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search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</a:t>
            </a:r>
            <a:r>
              <a:rPr sz="2840" b="1" i="0">
                <a:solidFill>
                  <a:srgbClr val="0B0B0B"/>
                </a:solidFill>
                <a:latin typeface="Arial"/>
              </a:rPr>
              <a:t>correction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4018" y="10557950"/>
            <a:ext cx="4608739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answer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is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expressible,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6669" y="11026099"/>
            <a:ext cx="2655747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search missed 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7210" y="11584390"/>
            <a:ext cx="8485527" cy="3608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•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representation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</a:t>
            </a:r>
            <a:r>
              <a:rPr sz="2840" b="1" i="0">
                <a:solidFill>
                  <a:srgbClr val="0B0B0B"/>
                </a:solidFill>
                <a:latin typeface="Arial"/>
              </a:rPr>
              <a:t>correction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: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needed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view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was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6669" y="12052538"/>
            <a:ext cx="2135406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screened 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7210" y="12610830"/>
            <a:ext cx="8485630" cy="3608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•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executable capability construction</a:t>
            </a:r>
            <a:r>
              <a:rPr sz="2840" b="0" i="0">
                <a:solidFill>
                  <a:srgbClr val="0B0B0B"/>
                </a:solidFill>
                <a:latin typeface="Arial"/>
              </a:rPr>
              <a:t>: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the language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96669" y="13078978"/>
            <a:ext cx="1145570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lacks 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7211" y="13637269"/>
            <a:ext cx="8485531" cy="3608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•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evidence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</a:t>
            </a:r>
            <a:r>
              <a:rPr sz="2840" b="1" i="0">
                <a:solidFill>
                  <a:srgbClr val="0B0B0B"/>
                </a:solidFill>
                <a:latin typeface="Arial"/>
              </a:rPr>
              <a:t>insufficiency</a:t>
            </a:r>
            <a:r>
              <a:rPr sz="2840" b="0" i="0">
                <a:solidFill>
                  <a:srgbClr val="0B0B0B"/>
                </a:solidFill>
                <a:latin typeface="Arial"/>
              </a:rPr>
              <a:t>: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examples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underdeter-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96669" y="14105418"/>
            <a:ext cx="2140455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mine the rule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7211" y="14663709"/>
            <a:ext cx="3682306" cy="3608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•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certification</a:t>
            </a:r>
            <a:r>
              <a:rPr sz="2840" b="1" i="0">
                <a:solidFill>
                  <a:srgbClr val="0B0B0B"/>
                </a:solidFill>
                <a:latin typeface="Arial"/>
              </a:rPr>
              <a:t> </a:t>
            </a:r>
            <a:r>
              <a:rPr sz="2840" b="1" i="0">
                <a:solidFill>
                  <a:srgbClr val="0B0B0B"/>
                </a:solidFill>
                <a:latin typeface="Arial"/>
              </a:rPr>
              <a:t>failure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9480" y="14663709"/>
            <a:ext cx="4513180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a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valid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candidate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fails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</a:t>
            </a:r>
            <a:r>
              <a:rPr sz="2840" b="0" i="0">
                <a:solidFill>
                  <a:srgbClr val="0B0B0B"/>
                </a:solidFill>
                <a:latin typeface="Arial"/>
              </a:rPr>
              <a:t>the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96669" y="15131845"/>
            <a:ext cx="1165763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checks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010" y="16657142"/>
            <a:ext cx="3603396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The CORA loop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010" y="27413442"/>
            <a:ext cx="5096379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Solid: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implemented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measured.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00290" y="27413442"/>
            <a:ext cx="3392539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Dashed: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proposed,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not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010" y="27818320"/>
            <a:ext cx="8692613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automated.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general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failure-type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controller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is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proposed,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not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010" y="28223210"/>
            <a:ext cx="2065260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0B0B0B"/>
                </a:solidFill>
                <a:latin typeface="Arial"/>
              </a:rPr>
              <a:t>implemented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010" y="29772037"/>
            <a:ext cx="8093543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Four claims, four kinds of evidence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010" y="30985355"/>
            <a:ext cx="3967251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0B0B0B"/>
                </a:solidFill>
                <a:latin typeface="Arial"/>
              </a:rPr>
              <a:t>(a)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the extension causes the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010" y="31390232"/>
            <a:ext cx="772400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solve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13527" y="30985355"/>
            <a:ext cx="3702243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development only: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nothing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13527" y="31390232"/>
            <a:ext cx="3733184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accepted without it, or with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13527" y="31795110"/>
            <a:ext cx="3142839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matched compute; not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13527" y="32199997"/>
            <a:ext cx="1157421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certified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0010" y="32604871"/>
            <a:ext cx="3285961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0B0B0B"/>
                </a:solidFill>
                <a:latin typeface="Arial"/>
              </a:rPr>
              <a:t>(b)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the real failure trace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010" y="33009761"/>
            <a:ext cx="1092730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matters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13527" y="32604871"/>
            <a:ext cx="3469419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demonstrations-only and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13527" y="33009761"/>
            <a:ext cx="4266023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shuffled failures never gave 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3527" y="33414639"/>
            <a:ext cx="395006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accepted, used extension (4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13527" y="33819526"/>
            <a:ext cx="884281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tasks)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0010" y="34224400"/>
            <a:ext cx="3333781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0B0B0B"/>
                </a:solidFill>
                <a:latin typeface="Arial"/>
              </a:rPr>
              <a:t>(c)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a bounded semantic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0010" y="34629290"/>
            <a:ext cx="1378995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extension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13527" y="34224658"/>
            <a:ext cx="2339982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0B0B0B"/>
                </a:solidFill>
                <a:latin typeface="Arial"/>
              </a:rPr>
              <a:t>not established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0010" y="35034168"/>
            <a:ext cx="3924119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0B0B0B"/>
                </a:solidFill>
                <a:latin typeface="Arial"/>
              </a:rPr>
              <a:t>(d)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retention and later reuse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13527" y="35034425"/>
            <a:ext cx="1353056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0B0B0B"/>
                </a:solidFill>
                <a:latin typeface="Arial"/>
              </a:rPr>
              <a:t>untested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73879" y="5976873"/>
            <a:ext cx="5848710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What has been measured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73879" y="10863996"/>
            <a:ext cx="8620645" cy="3125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synthetic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claim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only.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repaired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engine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also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accepted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ev-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73879" y="11268871"/>
            <a:ext cx="8620646" cy="3125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ery deliberately wrong extension it was given (5 of 5, 28 of 28).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73879" y="18228436"/>
            <a:ext cx="8620646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One constructed extension was accepted and used by the un-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73879" y="18633324"/>
            <a:ext cx="8620671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changed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engine;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none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survived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adaptive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leave-one-out.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No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73879" y="19038200"/>
            <a:ext cx="8456248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0B0B0B"/>
                </a:solidFill>
                <a:latin typeface="Arial"/>
              </a:rPr>
              <a:t>new ARC solve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 certified training score stays 185/1,000.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73879" y="20591868"/>
            <a:ext cx="8139223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The right view was cut, not missing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873879" y="35380965"/>
            <a:ext cx="862063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engine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searches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most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four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eligible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views,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fixed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or-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73879" y="35785843"/>
            <a:ext cx="862064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der.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With only demonstrations 0 and 2,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or 1 and 3,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finer views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73879" y="36190730"/>
            <a:ext cx="8620640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become eligible and fill the four slots.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 colour-layer view S6,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73879" y="36590138"/>
            <a:ext cx="8620654" cy="3179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where</a:t>
            </a:r>
            <a:r>
              <a:rPr sz="2480" b="0" i="1">
                <a:solidFill>
                  <a:srgbClr val="0B0B0B"/>
                </a:solidFill>
                <a:latin typeface="Arial"/>
              </a:rPr>
              <a:t> G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lives, is never searched.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Two of the four slots are du-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73880" y="37000482"/>
            <a:ext cx="8620642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plicates: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S2 and S5 give the reasoner exactly S1’s input there.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873880" y="37530636"/>
            <a:ext cx="547202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0B0B0B"/>
                </a:solidFill>
                <a:latin typeface="Arial"/>
              </a:rPr>
              <a:t>Can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a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neural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model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pick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view?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565702" y="37530378"/>
            <a:ext cx="1385875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Not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here.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171416" y="37530378"/>
            <a:ext cx="132305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In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pre-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873879" y="37935253"/>
            <a:ext cx="862064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registered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synthetic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test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(35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cases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that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needed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different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73879" y="38340143"/>
            <a:ext cx="8620642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view), the fixed order picked right 35 times; a frozen Qwen2.5-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873879" y="38745017"/>
            <a:ext cx="8620646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1.5B 19 times,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and only once when shown the reasoner’s real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873879" y="39149908"/>
            <a:ext cx="8620645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failure record (a shuffled record did the same); I-JEPA 3 times.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775739" y="5987210"/>
            <a:ext cx="8091143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Negative controls before any repair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775739" y="17740983"/>
            <a:ext cx="8620639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0B0B0B"/>
                </a:solidFill>
                <a:latin typeface="Arial"/>
              </a:rPr>
              <a:t>No task gained.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Forcing one view to be searched first harmed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775739" y="18145872"/>
            <a:ext cx="8620636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5 of 24 tasks: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4 of the 7 natively correct tasks lost their answer,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775739" y="18550748"/>
            <a:ext cx="8620645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and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1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rejected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task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became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false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acceptance.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variant-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775739" y="18955624"/>
            <a:ext cx="6401075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first repair we had built was therefore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not run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775739" y="20505546"/>
            <a:ext cx="7432935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What a valid repair must respect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946884" y="21803117"/>
            <a:ext cx="8449696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• Every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fold,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inner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outer,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selects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its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representation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from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119515" y="22208005"/>
            <a:ext cx="5598233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0B0B0B"/>
                </a:solidFill>
                <a:latin typeface="Arial"/>
              </a:rPr>
              <a:t>its own training demonstrations only</a:t>
            </a:r>
            <a:r>
              <a:rPr sz="2460" b="0" i="0">
                <a:solidFill>
                  <a:srgbClr val="0B0B0B"/>
                </a:solidFill>
                <a:latin typeface="Arial"/>
              </a:rPr>
              <a:t>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946884" y="22691011"/>
            <a:ext cx="8449693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• Anchoring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fold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to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parent’s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view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would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use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fold’s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119515" y="23095900"/>
            <a:ext cx="8089901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held-out demonstration: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forensic only</a:t>
            </a:r>
            <a:r>
              <a:rPr sz="2460" b="0" i="0">
                <a:solidFill>
                  <a:srgbClr val="0B0B0B"/>
                </a:solidFill>
                <a:latin typeface="Arial"/>
              </a:rPr>
              <a:t>, never a certificate.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946885" y="23578906"/>
            <a:ext cx="8449698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• Removing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duplicate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views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reaches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S6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both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failing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pairs,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119517" y="23983782"/>
            <a:ext cx="3816010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from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fold’s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data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alone.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5141304" y="23983782"/>
            <a:ext cx="4255078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Tested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41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synthetic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tasks,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119517" y="24388671"/>
            <a:ext cx="8276862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it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gained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1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harmed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4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(2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correct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answers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lost,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2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false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119517" y="24793547"/>
            <a:ext cx="7933621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acceptances) through the coarse views it let in: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</a:t>
            </a:r>
            <a:r>
              <a:rPr sz="2460" b="1" i="0">
                <a:solidFill>
                  <a:srgbClr val="0B0B0B"/>
                </a:solidFill>
                <a:latin typeface="Arial"/>
              </a:rPr>
              <a:t>rejected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0946882" y="25276565"/>
            <a:ext cx="8449695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• Observed,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not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theorem: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removing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demonstration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made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119513" y="25681441"/>
            <a:ext cx="8276871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an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eligible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view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ineligible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7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of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724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development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compar-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119513" y="26086317"/>
            <a:ext cx="345692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isons (pooled coverage).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775739" y="27759062"/>
            <a:ext cx="8385869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A portable controller?</a:t>
            </a:r>
            <a:r>
              <a:rPr sz="3790" b="1" i="0">
                <a:solidFill>
                  <a:srgbClr val="D03B3B"/>
                </a:solidFill>
                <a:latin typeface="Arial"/>
              </a:rPr>
              <a:t> </a:t>
            </a:r>
            <a:r>
              <a:rPr sz="3790" b="1" i="0">
                <a:solidFill>
                  <a:srgbClr val="D03B3B"/>
                </a:solidFill>
                <a:latin typeface="Arial"/>
              </a:rPr>
              <a:t>BIOLOGICAL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0775739" y="28442298"/>
            <a:ext cx="6151134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D03B3B"/>
                </a:solidFill>
                <a:latin typeface="Arial"/>
              </a:rPr>
              <a:t>APPLICATION: UNTESTED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438945" y="29900804"/>
            <a:ext cx="1681853" cy="264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1" i="0">
                <a:solidFill>
                  <a:srgbClr val="2A78D6"/>
                </a:solidFill>
                <a:latin typeface="Arial"/>
              </a:rPr>
              <a:t>implemented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315935" y="29952239"/>
            <a:ext cx="1152707" cy="264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1" i="0">
                <a:solidFill>
                  <a:srgbClr val="D03B3B"/>
                </a:solidFill>
                <a:latin typeface="Arial"/>
              </a:rPr>
              <a:t>untested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0775739" y="31986280"/>
            <a:ext cx="8620645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hypothesis: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controller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its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evidence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and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certificate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0775739" y="32391157"/>
            <a:ext cx="8620642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interfaces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are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portable;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ARC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operators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are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not.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test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needs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0775739" y="32796035"/>
            <a:ext cx="862064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typed adapters, training-only diagnosis, held-out perturbations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0775739" y="33200922"/>
            <a:ext cx="8620642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and cell states, and confounder controls.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No biological data or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0775739" y="33605796"/>
            <a:ext cx="2485623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result exists here.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0775739" y="35030959"/>
            <a:ext cx="5395605" cy="544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Not claimed</a:t>
            </a:r>
            <a:r>
              <a:rPr sz="4280" b="0" i="1">
                <a:solidFill>
                  <a:srgbClr val="2A78D6"/>
                </a:solidFill>
                <a:latin typeface="Arial"/>
              </a:rPr>
              <a:t> </a:t>
            </a:r>
            <a:r>
              <a:rPr sz="4280" b="0" i="1">
                <a:solidFill>
                  <a:srgbClr val="2A78D6"/>
                </a:solidFill>
                <a:latin typeface="Arial"/>
              </a:rPr>
              <a:t>·</a:t>
            </a:r>
            <a:r>
              <a:rPr sz="3790" b="1" i="0">
                <a:solidFill>
                  <a:srgbClr val="2A78D6"/>
                </a:solidFill>
                <a:latin typeface="Arial"/>
              </a:rPr>
              <a:t> </a:t>
            </a:r>
            <a:r>
              <a:rPr sz="3790" b="1" i="0">
                <a:solidFill>
                  <a:srgbClr val="2A78D6"/>
                </a:solidFill>
                <a:latin typeface="Arial"/>
              </a:rPr>
              <a:t>evidence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0775739" y="36178526"/>
            <a:ext cx="8512819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No ARC-AGI-2 solve or score gain; no semantic invention; no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0775739" y="36583401"/>
            <a:ext cx="8002801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automatic failure-type controller; no domain generality; no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0775739" y="36988291"/>
            <a:ext cx="8509384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results from the separate VDCG project.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The 120-task pilot is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0775739" y="37393168"/>
            <a:ext cx="4214429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frozen and</a:t>
            </a:r>
            <a:r>
              <a:rPr sz="2460" b="1" i="0">
                <a:solidFill>
                  <a:srgbClr val="0B0B0B"/>
                </a:solidFill>
                <a:latin typeface="Arial"/>
              </a:rPr>
              <a:t> has not been run</a:t>
            </a:r>
            <a:r>
              <a:rPr sz="2460" b="0" i="0">
                <a:solidFill>
                  <a:srgbClr val="0B0B0B"/>
                </a:solidFill>
                <a:latin typeface="Arial"/>
              </a:rPr>
              <a:t>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0775738" y="37865555"/>
            <a:ext cx="4459778" cy="264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0">
                <a:solidFill>
                  <a:srgbClr val="0B0B0B"/>
                </a:solidFill>
                <a:latin typeface="Arial"/>
              </a:rPr>
              <a:t>Every number, with commit and hash: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0775738" y="38206545"/>
            <a:ext cx="8583241" cy="278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90" b="0" i="0">
                <a:solidFill>
                  <a:srgbClr val="0B0B0B"/>
                </a:solidFill>
                <a:latin typeface="Courier New"/>
              </a:rPr>
              <a:t>records/CORA_SUMMIT_POSTER_EVIDENCE_20261012.md</a:t>
            </a:r>
            <a:r>
              <a:rPr sz="2080" b="0" i="0">
                <a:solidFill>
                  <a:srgbClr val="0B0B0B"/>
                </a:solidFill>
                <a:latin typeface="Arial"/>
              </a:rPr>
              <a:t>; figure hashes: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0775736" y="38548161"/>
            <a:ext cx="3415022" cy="278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90" b="0" i="0">
                <a:solidFill>
                  <a:srgbClr val="0B0B0B"/>
                </a:solidFill>
                <a:latin typeface="Courier New"/>
              </a:rPr>
              <a:t>figures/PROVENANCE.json</a:t>
            </a:r>
            <a:r>
              <a:rPr sz="2080" b="0" i="0">
                <a:solidFill>
                  <a:srgbClr val="0B0B0B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Search Is Not Enough (CORA, ARC Prize Research Summit 2026)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