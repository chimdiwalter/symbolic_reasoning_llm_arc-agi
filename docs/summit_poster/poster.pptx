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95" y="18037111"/>
            <a:ext cx="7804286" cy="952745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4034" y="29375134"/>
            <a:ext cx="7913295" cy="14484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938" y="467733"/>
            <a:ext cx="29368136" cy="4530204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7288" y="6782754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7288" y="17452827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88" y="30928717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1280" y="6678898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1280" y="21294095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413274" y="6782754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413274" y="12720282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413274" y="20372129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13274" y="28211708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13274" y="34863029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ig_synthetic_v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879" y="7325610"/>
            <a:ext cx="8569876" cy="3247532"/>
          </a:xfrm>
          <a:prstGeom prst="rect">
            <a:avLst/>
          </a:prstGeom>
        </p:spPr>
      </p:pic>
      <p:pic>
        <p:nvPicPr>
          <p:cNvPr id="16" name="Picture 15" descr="fig_funnel_reach_v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879" y="12279711"/>
            <a:ext cx="8569876" cy="5683181"/>
          </a:xfrm>
          <a:prstGeom prst="rect">
            <a:avLst/>
          </a:prstGeom>
        </p:spPr>
      </p:pic>
      <p:pic>
        <p:nvPicPr>
          <p:cNvPr id="17" name="Picture 16" descr="fig_failure_funnel_dev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879" y="21940614"/>
            <a:ext cx="8569876" cy="68559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21849" y="932217"/>
            <a:ext cx="23283307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103" y="2197467"/>
            <a:ext cx="25114855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Before Constructing Verified Reasoning Capabilities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6767" y="3324281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7170" y="3324281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4452" y="3960702"/>
            <a:ext cx="2013800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1849" y="932217"/>
            <a:ext cx="23283307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Failure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103" y="2197467"/>
            <a:ext cx="25114855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Before Constructing Verified Reasoning Capabilities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6767" y="3324281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7170" y="3324281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4452" y="3960702"/>
            <a:ext cx="2013800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9997" y="5987210"/>
            <a:ext cx="304278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010" y="7159356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How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can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a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reasoning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system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know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when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010" y="7716073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existing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way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of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solving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problems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in-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010" y="8272789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adequate, and acquire a better one without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010" y="8829493"/>
            <a:ext cx="8692565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compromising the evidence used to judge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010" y="9386210"/>
            <a:ext cx="579578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010" y="10089802"/>
            <a:ext cx="701535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 failed solve can need different responses: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7210" y="10557950"/>
            <a:ext cx="350498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search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4018" y="10557950"/>
            <a:ext cx="460873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answer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expressible,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6669" y="11026099"/>
            <a:ext cx="265574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search missed 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7210" y="11584390"/>
            <a:ext cx="8485527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needed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6669" y="12052538"/>
            <a:ext cx="2135406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screened out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7210" y="12610830"/>
            <a:ext cx="848563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executable capability construction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 language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6669" y="13078978"/>
            <a:ext cx="114557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lacks 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7211" y="13637269"/>
            <a:ext cx="8485531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evidence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insufficiency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examples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underdeter-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96669" y="14105418"/>
            <a:ext cx="2140455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mine the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7211" y="14663709"/>
            <a:ext cx="368230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certification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failure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9480" y="14663709"/>
            <a:ext cx="451318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valid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candidate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6669" y="15131845"/>
            <a:ext cx="1165763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checks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010" y="16657142"/>
            <a:ext cx="360339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CORA loop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010" y="27793022"/>
            <a:ext cx="509637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Solid: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measured.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00290" y="27793022"/>
            <a:ext cx="33925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Dashed: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010" y="28197897"/>
            <a:ext cx="869261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automated.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general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failure-type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010" y="28602784"/>
            <a:ext cx="2065260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010" y="30151613"/>
            <a:ext cx="809354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Four claims, four kinds of evidence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010" y="31364935"/>
            <a:ext cx="396725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(a)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extension causes the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010" y="31769809"/>
            <a:ext cx="77240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solve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13527" y="31364935"/>
            <a:ext cx="370224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development only: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13527" y="31769809"/>
            <a:ext cx="37331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 without it, or with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13527" y="32174687"/>
            <a:ext cx="31428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matched compute; not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3527" y="32579574"/>
            <a:ext cx="115742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certified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0010" y="32984451"/>
            <a:ext cx="328596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(b)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real failure trace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010" y="33389338"/>
            <a:ext cx="109273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matters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13527" y="32984451"/>
            <a:ext cx="346941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demonstrations-only and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13527" y="33389338"/>
            <a:ext cx="426602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shuffled failures never gave 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13527" y="33794216"/>
            <a:ext cx="395006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accepted, used extension (4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13527" y="34199103"/>
            <a:ext cx="88428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010" y="34603980"/>
            <a:ext cx="333378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(c)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a bounded semantic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010" y="35008867"/>
            <a:ext cx="137899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extension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13527" y="34604238"/>
            <a:ext cx="233998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established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010" y="35413745"/>
            <a:ext cx="392411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(d)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retention and later reuse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13527" y="35414002"/>
            <a:ext cx="135305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untested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73879" y="5976873"/>
            <a:ext cx="58487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What has been measured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73879" y="10863996"/>
            <a:ext cx="8620645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claim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only.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repaired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also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ev-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873879" y="11268871"/>
            <a:ext cx="8620646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ery deliberately wrong extension it was given (5 of 5, 28 of 28).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73879" y="18228436"/>
            <a:ext cx="862064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One constructed extension was accepted and used by the un-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73879" y="18633324"/>
            <a:ext cx="862067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changed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survived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adaptive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leave-one-out.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73879" y="19038200"/>
            <a:ext cx="8456248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new ARC solve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certified training score stays 185/1,000.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73879" y="20591868"/>
            <a:ext cx="72382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Where CORA fails on real tasks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3879" y="29087368"/>
            <a:ext cx="862064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checks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problem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certi-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873878" y="29492243"/>
            <a:ext cx="862064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fied, and switching leave-one-out off would add 2 right answers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73878" y="29897130"/>
            <a:ext cx="862073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ones.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rules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“fits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demos”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73878" y="30302007"/>
            <a:ext cx="86206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tasks the programs memorize.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21 of 25 use constant parame-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73878" y="30706897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ters,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mostly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grown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pattern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keyed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colour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exact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73878" y="31111772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shape, and each leave-one-out fold rebuilds a different one (59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73878" y="31516659"/>
            <a:ext cx="24987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of 74 failed folds).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045011" y="32015301"/>
            <a:ext cx="844970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Native’s own relational re-search finds no program (0 of 11).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045011" y="32498307"/>
            <a:ext cx="729495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Three times the search budget fixes none (0 of 14).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45011" y="32981313"/>
            <a:ext cx="844970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Given the true answer as a demonstration (diagnostic only),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217642" y="33386200"/>
            <a:ext cx="827687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27,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24,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217642" y="33791078"/>
            <a:ext cx="159181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more case.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45011" y="34274084"/>
            <a:ext cx="844969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The view-admission failure we first traced explains only 7 of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217642" y="34678971"/>
            <a:ext cx="204246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76 failed folds.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873878" y="35177614"/>
            <a:ext cx="86206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neural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guides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did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better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fixed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73878" y="35582488"/>
            <a:ext cx="862065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order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(Qwen2.5-1.5B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35,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I-JEPA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35;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pre-registered,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73878" y="35987375"/>
            <a:ext cx="147493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synthetic).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775739" y="5987210"/>
            <a:ext cx="5912175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Repairs tested before use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946884" y="7284782"/>
            <a:ext cx="8449690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Forcing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first: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gained,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119515" y="7689656"/>
            <a:ext cx="8276869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harmed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lost,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false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19515" y="8094547"/>
            <a:ext cx="3145322" cy="312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acceptance).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 run.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946885" y="8577553"/>
            <a:ext cx="8449695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Fold-local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removal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duplicate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gained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harmed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119517" y="8982427"/>
            <a:ext cx="2329646" cy="312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of 41.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Rejected.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946885" y="9465446"/>
            <a:ext cx="8449502" cy="312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Every fold chooses its representation from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its own demon-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119515" y="9870320"/>
            <a:ext cx="8276904" cy="312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strations only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; anchoring a fold to the parent’s view is foren-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119515" y="10275210"/>
            <a:ext cx="3145659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sic, never a certificate.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775739" y="11924652"/>
            <a:ext cx="718388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Competition status, 14 October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775739" y="13093622"/>
            <a:ext cx="6456945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OFFICIAL KAGGLE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native CORA v23: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775741" y="13592249"/>
            <a:ext cx="8620622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NEURAL_TTT_BASELINE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</a:t>
            </a:r>
            <a:r>
              <a:rPr sz="2480" b="0" i="1">
                <a:solidFill>
                  <a:srgbClr val="0B0B0B"/>
                </a:solidFill>
                <a:latin typeface="Arial"/>
              </a:rPr>
              <a:t>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reproduction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0775741" y="14006689"/>
            <a:ext cx="862052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NVARC Qwen3-4B test-time-training pipeline,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not 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 sub-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775741" y="14411563"/>
            <a:ext cx="8620827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mitted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October,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score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pending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240-task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stand-in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775742" y="14816453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decoded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every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(259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259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genuine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predictions,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fall-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775742" y="15221328"/>
            <a:ext cx="2163731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backs) in 4.3 h.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775742" y="15710417"/>
            <a:ext cx="8620816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DEVELOPMENT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</a:t>
            </a:r>
            <a:r>
              <a:rPr sz="2480" b="0" i="1">
                <a:solidFill>
                  <a:srgbClr val="0B0B0B"/>
                </a:solidFill>
                <a:latin typeface="Arial"/>
              </a:rPr>
              <a:t>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whole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harness: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775744" y="16124842"/>
            <a:ext cx="8620647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claimed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because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pipeline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layer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775744" y="16529732"/>
            <a:ext cx="194527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first.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977115" y="16529732"/>
            <a:ext cx="6419267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Reordering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already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produces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775744" y="16934608"/>
            <a:ext cx="862063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(shadow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study):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775744" y="17339496"/>
            <a:ext cx="712899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C2-dev, none lost.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Engineering only; not submitted.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0775739" y="18893167"/>
            <a:ext cx="640691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Next: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construct the missing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775739" y="19576401"/>
            <a:ext cx="522415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operation</a:t>
            </a:r>
            <a:r>
              <a:rPr sz="3790" b="1" i="0">
                <a:solidFill>
                  <a:srgbClr val="EB6834"/>
                </a:solidFill>
                <a:latin typeface="Arial"/>
              </a:rPr>
              <a:t> </a:t>
            </a:r>
            <a:r>
              <a:rPr sz="3790" b="1" i="0">
                <a:solidFill>
                  <a:srgbClr val="EB6834"/>
                </a:solidFill>
                <a:latin typeface="Arial"/>
              </a:rPr>
              <a:t>PROPOSED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0946884" y="20873972"/>
            <a:ext cx="844949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Trigger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demonstrations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only: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constant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119515" y="21278860"/>
            <a:ext cx="677054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growth pattern that leave-one-out cannot rebuild.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946884" y="21761867"/>
            <a:ext cx="8449417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Construct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derived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pattern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declared,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119515" y="22166755"/>
            <a:ext cx="827686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bounded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grammar.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growth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families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cover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119515" y="22571631"/>
            <a:ext cx="7878720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of the 27, so the grammar must grow, and be frozen first.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0946884" y="23054637"/>
            <a:ext cx="844948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Verify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re-induction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every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full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adaptive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1119515" y="23459526"/>
            <a:ext cx="312378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one-out, blind scoring.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0946884" y="23942532"/>
            <a:ext cx="8449498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Controls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matched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extra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failure-blind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shuffled-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1119515" y="24347420"/>
            <a:ext cx="275563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failure construction.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0775739" y="24871359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yet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run.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gain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compositional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growth,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new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0775739" y="25276235"/>
            <a:ext cx="129305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primitive.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0775739" y="26826157"/>
            <a:ext cx="838586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portable controller?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BIOLOGICAL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0775739" y="27509393"/>
            <a:ext cx="615113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APPLICATION: UNTESTED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1438945" y="28967912"/>
            <a:ext cx="1681853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2A78D6"/>
                </a:solidFill>
                <a:latin typeface="Arial"/>
              </a:rPr>
              <a:t>implemented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7315935" y="29019348"/>
            <a:ext cx="1152707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D03B3B"/>
                </a:solidFill>
                <a:latin typeface="Arial"/>
              </a:rPr>
              <a:t>untested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0775739" y="31053378"/>
            <a:ext cx="86206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hypothesis: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evidence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certificate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775739" y="31458265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interfaces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portable;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test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0775739" y="31863143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typed adapters, training-only diagnosis, held-out perturbations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0775739" y="32268030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 cell states, and confounder controls.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 biological data or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0775739" y="32672908"/>
            <a:ext cx="248562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result exists here.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0775739" y="34098067"/>
            <a:ext cx="5395605" cy="544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Not claimed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evidence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0775739" y="35245634"/>
            <a:ext cx="809217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No CORA solve or score gain on ARC-AGI-2; no semantic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775739" y="35650512"/>
            <a:ext cx="781529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invention; no automatic failure-type controller; the neural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0775739" y="36055399"/>
            <a:ext cx="764559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score, when it arrives, is not a CORA result; no domain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0775739" y="36460276"/>
            <a:ext cx="82112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generality; no results from the separate VDCG project.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775739" y="36865163"/>
            <a:ext cx="6472324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120-task pilot is frozen and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has not been 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775739" y="37337538"/>
            <a:ext cx="4459777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Every number, with commit and hash: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0775739" y="37678531"/>
            <a:ext cx="7289874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records/CORA_SUMMIT_POSTER_EVIDENCE_20261012.md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 and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775741" y="38020147"/>
            <a:ext cx="7438642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records/CORA_FAILURE_FUNNEL_20261014.md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; figure hashes: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0775741" y="38361763"/>
            <a:ext cx="3415022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figures/PROVENANCE.json</a:t>
            </a:r>
            <a:r>
              <a:rPr sz="208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Search Is Not Enough (CORA, ARC Prize Research Summit 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