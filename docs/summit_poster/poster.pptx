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95" y="18037111"/>
            <a:ext cx="7804286" cy="9147871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04034" y="30308026"/>
            <a:ext cx="7913295" cy="14484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938" y="467733"/>
            <a:ext cx="29368136" cy="4530204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67827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17452827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54913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511280" y="667889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2139506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413274" y="679020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413274" y="21301285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29144618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3579594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g_synthetic_v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7325610"/>
            <a:ext cx="8569876" cy="3247532"/>
          </a:xfrm>
          <a:prstGeom prst="rect">
            <a:avLst/>
          </a:prstGeom>
        </p:spPr>
      </p:pic>
      <p:pic>
        <p:nvPicPr>
          <p:cNvPr id="15" name="Picture 14" descr="fig_funnel_reach_v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73879" y="12279711"/>
            <a:ext cx="8569876" cy="5683181"/>
          </a:xfrm>
          <a:prstGeom prst="rect">
            <a:avLst/>
          </a:prstGeom>
        </p:spPr>
      </p:pic>
      <p:pic>
        <p:nvPicPr>
          <p:cNvPr id="16" name="Picture 15" descr="fig_kf89_training_demonstrati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73879" y="22041583"/>
            <a:ext cx="8569876" cy="4826193"/>
          </a:xfrm>
          <a:prstGeom prst="rect">
            <a:avLst/>
          </a:prstGeom>
        </p:spPr>
      </p:pic>
      <p:pic>
        <p:nvPicPr>
          <p:cNvPr id="17" name="Picture 16" descr="fig_kf89_variant_admiss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73879" y="27332117"/>
            <a:ext cx="8569876" cy="7757994"/>
          </a:xfrm>
          <a:prstGeom prst="rect">
            <a:avLst/>
          </a:prstGeom>
        </p:spPr>
      </p:pic>
      <p:pic>
        <p:nvPicPr>
          <p:cNvPr id="18" name="Picture 17" descr="fig_negative_control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775739" y="7436908"/>
            <a:ext cx="8569876" cy="1001322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1849" y="932217"/>
            <a:ext cx="23283307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When Search Is Not Enough: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Diagnosing Failure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103" y="2197467"/>
            <a:ext cx="25114855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Before Constructing Verified Reasoning Capabilities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6767" y="3324281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7170" y="3324281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94452" y="3960702"/>
            <a:ext cx="2013800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CORA on ARC-AGI-2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development results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52514E"/>
                </a:solidFill>
                <a:latin typeface="Arial"/>
              </a:rPr>
              <a:t> </a:t>
            </a:r>
            <a:r>
              <a:rPr sz="3790" b="0" i="0">
                <a:solidFill>
                  <a:srgbClr val="52514E"/>
                </a:solidFill>
                <a:latin typeface="Arial"/>
              </a:rPr>
              <a:t>ARC Prize Research Summit, 23 October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997" y="5987210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159356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How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can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a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reasoning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system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know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7716073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existing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way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of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solving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problems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is</a:t>
            </a:r>
            <a:r>
              <a:rPr sz="3410" b="1" i="0">
                <a:solidFill>
                  <a:srgbClr val="0B0B0B"/>
                </a:solidFill>
                <a:latin typeface="Arial"/>
              </a:rPr>
              <a:t> </a:t>
            </a:r>
            <a:r>
              <a:rPr sz="3410" b="1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010" y="8272789"/>
            <a:ext cx="8692566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adequate, and acquire a better one without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829493"/>
            <a:ext cx="8692565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compromising the evidence used to judge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010" y="9386210"/>
            <a:ext cx="579578" cy="4327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10" b="1" i="0">
                <a:solidFill>
                  <a:srgbClr val="0B0B0B"/>
                </a:solidFill>
                <a:latin typeface="Arial"/>
              </a:rPr>
              <a:t>it?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0010" y="10089802"/>
            <a:ext cx="701535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 failed solve can need different responses: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7210" y="10557950"/>
            <a:ext cx="350498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search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4018" y="10557950"/>
            <a:ext cx="460873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expressible,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296669" y="11026099"/>
            <a:ext cx="265574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search missed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7210" y="11584390"/>
            <a:ext cx="8485527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correction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needed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96669" y="12052538"/>
            <a:ext cx="213540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screened out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7210" y="12610830"/>
            <a:ext cx="848563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executable capability construction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language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96669" y="13078978"/>
            <a:ext cx="114557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lacks it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7211" y="13637269"/>
            <a:ext cx="8485531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insufficiency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examples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underdeter-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96669" y="14105418"/>
            <a:ext cx="214045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mine the rule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07211" y="14663709"/>
            <a:ext cx="368230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certification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: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9480" y="14663709"/>
            <a:ext cx="451318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valid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96669" y="15131845"/>
            <a:ext cx="1165763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checks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16657142"/>
            <a:ext cx="360339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CORA loop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10" y="27413442"/>
            <a:ext cx="509637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Solid: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measured.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00290" y="27413442"/>
            <a:ext cx="33925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Dashed: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00010" y="27818320"/>
            <a:ext cx="86926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general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failure-type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proposed,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0010" y="28223210"/>
            <a:ext cx="2065260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implemented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010" y="29772037"/>
            <a:ext cx="80935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Four claims, four kinds of evidence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30985355"/>
            <a:ext cx="39672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(a)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extension causes the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31390232"/>
            <a:ext cx="77240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113527" y="30985355"/>
            <a:ext cx="370224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development only: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nothing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13527" y="31390232"/>
            <a:ext cx="37331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 without it, or with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3527" y="31795110"/>
            <a:ext cx="31428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matched compute; not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113527" y="32199997"/>
            <a:ext cx="115742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certified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0010" y="32604871"/>
            <a:ext cx="328596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(b)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the real failure trace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0010" y="33009761"/>
            <a:ext cx="109273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matters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13527" y="32604871"/>
            <a:ext cx="34694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demonstrations-only and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13527" y="33009761"/>
            <a:ext cx="42660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shuffled failures never gave an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113527" y="33414639"/>
            <a:ext cx="39500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accepted, used extension (4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13527" y="33819526"/>
            <a:ext cx="88428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10" y="34224400"/>
            <a:ext cx="333378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(c)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a bounded semantic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10" y="34629290"/>
            <a:ext cx="137899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extension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13527" y="3422465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5034168"/>
            <a:ext cx="392411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(d)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retention and later reuse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527" y="35034425"/>
            <a:ext cx="13530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untested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873879" y="5976873"/>
            <a:ext cx="58487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has been measured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873879" y="10863996"/>
            <a:ext cx="8620645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claim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only.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repaired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also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73879" y="11268871"/>
            <a:ext cx="8620646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ery deliberately wrong extension it was given (5 of 5, 28 of 28).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73879" y="18228436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One constructed extension was accepted and used by the un-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3879" y="18633324"/>
            <a:ext cx="862067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survived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adaptive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leave-one-out.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873879" y="19038200"/>
            <a:ext cx="8456248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new ARC 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certified training score stays 185/1,000.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3879" y="20591868"/>
            <a:ext cx="813922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right view was cut, not missing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873879" y="35380965"/>
            <a:ext cx="862063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four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73879" y="35785843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der.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 only demonstrations 0 and 2,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 1 and 3,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finer views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73879" y="36190730"/>
            <a:ext cx="862064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become eligible and fill the four slots.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colour-layer view S6,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73879" y="36590138"/>
            <a:ext cx="8620654" cy="317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where</a:t>
            </a:r>
            <a:r>
              <a:rPr sz="2480" b="0" i="1">
                <a:solidFill>
                  <a:srgbClr val="0B0B0B"/>
                </a:solidFill>
                <a:latin typeface="Arial"/>
              </a:rPr>
              <a:t> 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lives, is never searched.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Two of the four slots are du-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873880" y="37000482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plicates: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S2 and S5 give the reasoner exactly S1’s input there.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775739" y="5987210"/>
            <a:ext cx="8091143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Negative controls before any repair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0775739" y="17740983"/>
            <a:ext cx="862063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 task gained.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Forcing one view to be searched first harmed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0775739" y="18145872"/>
            <a:ext cx="862063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 of 24 tasks: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 of the 7 natively correct tasks lost their answer,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0775739" y="18550748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rejected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became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false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acceptance.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variant-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0775739" y="18955624"/>
            <a:ext cx="640107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first repair we had built was therefore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not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775739" y="20505546"/>
            <a:ext cx="7432935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What a valid repair must respect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0946884" y="21803117"/>
            <a:ext cx="844969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Every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inner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outer,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selects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representation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1119515" y="22208005"/>
            <a:ext cx="559823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its own training demonstrations 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0946884" y="22691011"/>
            <a:ext cx="8449693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Anchoring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parent’s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use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fold’s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119515" y="23095900"/>
            <a:ext cx="808990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held-out demonstration: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forensic only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 never a certificate.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946885" y="23578906"/>
            <a:ext cx="844969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Removing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duplicate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119517" y="23983782"/>
            <a:ext cx="827687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pairs,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fold’s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data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alone.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changes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1119517" y="24388671"/>
            <a:ext cx="827687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277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522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subsets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1119517" y="24793547"/>
            <a:ext cx="542290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successes: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untested, not authorized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0946885" y="25276565"/>
            <a:ext cx="844969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Observed,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theorem: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removing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demonstration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made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1119517" y="25681441"/>
            <a:ext cx="8276871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724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development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compar-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1119517" y="26086317"/>
            <a:ext cx="345692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isons (pooled coverage).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0775739" y="27759062"/>
            <a:ext cx="838586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portable controller?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BIOLOGICAL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0775739" y="28442298"/>
            <a:ext cx="615113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APPLICATION: UNTESTED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1438945" y="29900804"/>
            <a:ext cx="1681853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2A78D6"/>
                </a:solidFill>
                <a:latin typeface="Arial"/>
              </a:rPr>
              <a:t>implemented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7315935" y="29952239"/>
            <a:ext cx="1152707" cy="2644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1" i="0">
                <a:solidFill>
                  <a:srgbClr val="D03B3B"/>
                </a:solidFill>
                <a:latin typeface="Arial"/>
              </a:rPr>
              <a:t>untested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0775739" y="31986280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hypothesis: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evidence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certificate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0775739" y="32391157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portable;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0775739" y="32796035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typed adapters, training-only diagnosis, held-out perturbations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0775739" y="33200922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 cell states, and confounder controls.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 biological data or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775739" y="33605796"/>
            <a:ext cx="248562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result exists here.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20775739" y="35030959"/>
            <a:ext cx="5395605" cy="544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Not claimed</a:t>
            </a:r>
            <a:r>
              <a:rPr sz="4280" b="0" i="1">
                <a:solidFill>
                  <a:srgbClr val="2A78D6"/>
                </a:solidFill>
                <a:latin typeface="Arial"/>
              </a:rPr>
              <a:t> </a:t>
            </a:r>
            <a:r>
              <a:rPr sz="4280" b="0" i="1">
                <a:solidFill>
                  <a:srgbClr val="2A78D6"/>
                </a:solidFill>
                <a:latin typeface="Arial"/>
              </a:rPr>
              <a:t>·</a:t>
            </a:r>
            <a:r>
              <a:rPr sz="3790" b="1" i="0">
                <a:solidFill>
                  <a:srgbClr val="2A78D6"/>
                </a:solidFill>
                <a:latin typeface="Arial"/>
              </a:rPr>
              <a:t> </a:t>
            </a:r>
            <a:r>
              <a:rPr sz="3790" b="1" i="0">
                <a:solidFill>
                  <a:srgbClr val="2A78D6"/>
                </a:solidFill>
                <a:latin typeface="Arial"/>
              </a:rPr>
              <a:t>evidence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0775739" y="36178526"/>
            <a:ext cx="851281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No ARC-AGI-2 solve or score gain; no semantic invention; no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0775739" y="36583401"/>
            <a:ext cx="800280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automatic failure-type controller; no domain generality; no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0775739" y="36988291"/>
            <a:ext cx="850938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results from the separate VDCG project.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 120-task pilot is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0775739" y="37393168"/>
            <a:ext cx="421442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 and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has not been 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0775738" y="37865555"/>
            <a:ext cx="445977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commit and hash: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0775738" y="38206545"/>
            <a:ext cx="8583241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records/CORA_SUMMIT_POSTER_EVIDENCE_20261012.md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; figure hashes: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0775736" y="38548161"/>
            <a:ext cx="3415022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figures/PROVENANCE.json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