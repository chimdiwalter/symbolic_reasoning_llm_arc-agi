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0276000" cy="42804004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8795" y="19302361"/>
            <a:ext cx="7804286" cy="9527451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04034" y="33285754"/>
            <a:ext cx="7913295" cy="144842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938" y="467733"/>
            <a:ext cx="29368136" cy="5795476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7288" y="8048026"/>
            <a:ext cx="9367047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7288" y="18718098"/>
            <a:ext cx="9367047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7288" y="32193989"/>
            <a:ext cx="9367047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7288" y="39080567"/>
            <a:ext cx="9367047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511280" y="7944170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511280" y="22559366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0413274" y="8048026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0413274" y="15606356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0413274" y="32122384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413274" y="38029875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fig_synthetic_v1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73879" y="8590862"/>
            <a:ext cx="8569876" cy="3247532"/>
          </a:xfrm>
          <a:prstGeom prst="rect">
            <a:avLst/>
          </a:prstGeom>
        </p:spPr>
      </p:pic>
      <p:pic>
        <p:nvPicPr>
          <p:cNvPr id="16" name="Picture 15" descr="fig_funnel_reach_v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73879" y="13544962"/>
            <a:ext cx="8569876" cy="5683181"/>
          </a:xfrm>
          <a:prstGeom prst="rect">
            <a:avLst/>
          </a:prstGeom>
        </p:spPr>
      </p:pic>
      <p:pic>
        <p:nvPicPr>
          <p:cNvPr id="17" name="Picture 16" descr="fig_failure_funnel_dev6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3879" y="23205861"/>
            <a:ext cx="8569876" cy="6855900"/>
          </a:xfrm>
          <a:prstGeom prst="rect">
            <a:avLst/>
          </a:prstGeom>
        </p:spPr>
      </p:pic>
      <p:pic>
        <p:nvPicPr>
          <p:cNvPr id="18" name="Picture 17" descr="fig_fhr_witness_dev_D3_0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775739" y="16252949"/>
            <a:ext cx="8569876" cy="541255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586393" y="932217"/>
            <a:ext cx="25154226" cy="10096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7950" b="1" i="0">
                <a:solidFill>
                  <a:srgbClr val="0B0B0B"/>
                </a:solidFill>
                <a:latin typeface="Arial"/>
              </a:rPr>
              <a:t>When Search Is Not Enough:</a:t>
            </a:r>
            <a:r>
              <a:rPr sz="7950" b="1" i="0">
                <a:solidFill>
                  <a:srgbClr val="0B0B0B"/>
                </a:solidFill>
                <a:latin typeface="Arial"/>
              </a:rPr>
              <a:t> </a:t>
            </a:r>
            <a:r>
              <a:rPr sz="7950" b="1" i="0">
                <a:solidFill>
                  <a:srgbClr val="0B0B0B"/>
                </a:solidFill>
                <a:latin typeface="Arial"/>
              </a:rPr>
              <a:t>Diagnosing Reasoning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12077" y="2197467"/>
            <a:ext cx="3902690" cy="10096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7950" b="1" i="0">
                <a:solidFill>
                  <a:srgbClr val="0B0B0B"/>
                </a:solidFill>
                <a:latin typeface="Arial"/>
              </a:rPr>
              <a:t>Failures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06522" y="3462729"/>
            <a:ext cx="24714014" cy="10096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7950" b="1" i="0">
                <a:solidFill>
                  <a:srgbClr val="0B0B0B"/>
                </a:solidFill>
                <a:latin typeface="Arial"/>
              </a:rPr>
              <a:t>and Constructing Verifiable Executable Capabilities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26767" y="4589544"/>
            <a:ext cx="6542409" cy="6250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920" b="0" i="0">
                <a:solidFill>
                  <a:srgbClr val="0B0B0B"/>
                </a:solidFill>
                <a:latin typeface="Arial"/>
              </a:rPr>
              <a:t>Chimdi Walter Ndubuisi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817172" y="4589544"/>
            <a:ext cx="5983006" cy="6250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920" b="0" i="0">
                <a:solidFill>
                  <a:srgbClr val="0B0B0B"/>
                </a:solidFill>
                <a:latin typeface="Arial"/>
              </a:rPr>
              <a:t>University of Missouri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94453" y="5225951"/>
            <a:ext cx="20138000" cy="544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0" i="0">
                <a:solidFill>
                  <a:srgbClr val="52514E"/>
                </a:solidFill>
                <a:latin typeface="Arial"/>
              </a:rPr>
              <a:t>CORA on ARC-AGI-2</a:t>
            </a:r>
            <a:r>
              <a:rPr sz="4280" b="0" i="1">
                <a:solidFill>
                  <a:srgbClr val="52514E"/>
                </a:solidFill>
                <a:latin typeface="Arial"/>
              </a:rPr>
              <a:t> </a:t>
            </a:r>
            <a:r>
              <a:rPr sz="4280" b="0" i="1">
                <a:solidFill>
                  <a:srgbClr val="52514E"/>
                </a:solidFill>
                <a:latin typeface="Arial"/>
              </a:rPr>
              <a:t>·</a:t>
            </a:r>
            <a:r>
              <a:rPr sz="3790" b="0" i="0">
                <a:solidFill>
                  <a:srgbClr val="52514E"/>
                </a:solidFill>
                <a:latin typeface="Arial"/>
              </a:rPr>
              <a:t> </a:t>
            </a:r>
            <a:r>
              <a:rPr sz="3790" b="0" i="0">
                <a:solidFill>
                  <a:srgbClr val="52514E"/>
                </a:solidFill>
                <a:latin typeface="Arial"/>
              </a:rPr>
              <a:t>development results</a:t>
            </a:r>
            <a:r>
              <a:rPr sz="4280" b="0" i="1">
                <a:solidFill>
                  <a:srgbClr val="52514E"/>
                </a:solidFill>
                <a:latin typeface="Arial"/>
              </a:rPr>
              <a:t> </a:t>
            </a:r>
            <a:r>
              <a:rPr sz="4280" b="0" i="1">
                <a:solidFill>
                  <a:srgbClr val="52514E"/>
                </a:solidFill>
                <a:latin typeface="Arial"/>
              </a:rPr>
              <a:t>·</a:t>
            </a:r>
            <a:r>
              <a:rPr sz="3790" b="0" i="0">
                <a:solidFill>
                  <a:srgbClr val="52514E"/>
                </a:solidFill>
                <a:latin typeface="Arial"/>
              </a:rPr>
              <a:t> </a:t>
            </a:r>
            <a:r>
              <a:rPr sz="3790" b="0" i="0">
                <a:solidFill>
                  <a:srgbClr val="52514E"/>
                </a:solidFill>
                <a:latin typeface="Arial"/>
              </a:rPr>
              <a:t>ARC Prize Research Summit, 23 October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86393" y="932217"/>
            <a:ext cx="25154226" cy="10096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7950" b="1" i="0">
                <a:solidFill>
                  <a:srgbClr val="0B0B0B"/>
                </a:solidFill>
                <a:latin typeface="Arial"/>
              </a:rPr>
              <a:t>When Search Is Not Enough:</a:t>
            </a:r>
            <a:r>
              <a:rPr sz="7950" b="1" i="0">
                <a:solidFill>
                  <a:srgbClr val="0B0B0B"/>
                </a:solidFill>
                <a:latin typeface="Arial"/>
              </a:rPr>
              <a:t> </a:t>
            </a:r>
            <a:r>
              <a:rPr sz="7950" b="1" i="0">
                <a:solidFill>
                  <a:srgbClr val="0B0B0B"/>
                </a:solidFill>
                <a:latin typeface="Arial"/>
              </a:rPr>
              <a:t>Diagnosing Reasoning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12077" y="2197467"/>
            <a:ext cx="3902690" cy="10096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7950" b="1" i="0">
                <a:solidFill>
                  <a:srgbClr val="0B0B0B"/>
                </a:solidFill>
                <a:latin typeface="Arial"/>
              </a:rPr>
              <a:t>Failures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06522" y="3462729"/>
            <a:ext cx="24714014" cy="10096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7950" b="1" i="0">
                <a:solidFill>
                  <a:srgbClr val="0B0B0B"/>
                </a:solidFill>
                <a:latin typeface="Arial"/>
              </a:rPr>
              <a:t>and Constructing Verifiable Executable Capabilities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26767" y="4589544"/>
            <a:ext cx="6542409" cy="6250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920" b="0" i="0">
                <a:solidFill>
                  <a:srgbClr val="0B0B0B"/>
                </a:solidFill>
                <a:latin typeface="Arial"/>
              </a:rPr>
              <a:t>Chimdi Walter Ndubuisi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817172" y="4589544"/>
            <a:ext cx="5983006" cy="6250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920" b="0" i="0">
                <a:solidFill>
                  <a:srgbClr val="0B0B0B"/>
                </a:solidFill>
                <a:latin typeface="Arial"/>
              </a:rPr>
              <a:t>University of Missouri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94453" y="5225951"/>
            <a:ext cx="20138000" cy="544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0" i="0">
                <a:solidFill>
                  <a:srgbClr val="52514E"/>
                </a:solidFill>
                <a:latin typeface="Arial"/>
              </a:rPr>
              <a:t>CORA on ARC-AGI-2</a:t>
            </a:r>
            <a:r>
              <a:rPr sz="4280" b="0" i="1">
                <a:solidFill>
                  <a:srgbClr val="52514E"/>
                </a:solidFill>
                <a:latin typeface="Arial"/>
              </a:rPr>
              <a:t> </a:t>
            </a:r>
            <a:r>
              <a:rPr sz="4280" b="0" i="1">
                <a:solidFill>
                  <a:srgbClr val="52514E"/>
                </a:solidFill>
                <a:latin typeface="Arial"/>
              </a:rPr>
              <a:t>·</a:t>
            </a:r>
            <a:r>
              <a:rPr sz="3790" b="0" i="0">
                <a:solidFill>
                  <a:srgbClr val="52514E"/>
                </a:solidFill>
                <a:latin typeface="Arial"/>
              </a:rPr>
              <a:t> </a:t>
            </a:r>
            <a:r>
              <a:rPr sz="3790" b="0" i="0">
                <a:solidFill>
                  <a:srgbClr val="52514E"/>
                </a:solidFill>
                <a:latin typeface="Arial"/>
              </a:rPr>
              <a:t>development results</a:t>
            </a:r>
            <a:r>
              <a:rPr sz="4280" b="0" i="1">
                <a:solidFill>
                  <a:srgbClr val="52514E"/>
                </a:solidFill>
                <a:latin typeface="Arial"/>
              </a:rPr>
              <a:t> </a:t>
            </a:r>
            <a:r>
              <a:rPr sz="4280" b="0" i="1">
                <a:solidFill>
                  <a:srgbClr val="52514E"/>
                </a:solidFill>
                <a:latin typeface="Arial"/>
              </a:rPr>
              <a:t>·</a:t>
            </a:r>
            <a:r>
              <a:rPr sz="3790" b="0" i="0">
                <a:solidFill>
                  <a:srgbClr val="52514E"/>
                </a:solidFill>
                <a:latin typeface="Arial"/>
              </a:rPr>
              <a:t> </a:t>
            </a:r>
            <a:r>
              <a:rPr sz="3790" b="0" i="0">
                <a:solidFill>
                  <a:srgbClr val="52514E"/>
                </a:solidFill>
                <a:latin typeface="Arial"/>
              </a:rPr>
              <a:t>ARC Prize Research Summit, 23 October 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9997" y="7252460"/>
            <a:ext cx="3042789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The question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0010" y="8424619"/>
            <a:ext cx="8692566" cy="4327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10" b="1" i="0">
                <a:solidFill>
                  <a:srgbClr val="0B0B0B"/>
                </a:solidFill>
                <a:latin typeface="Arial"/>
              </a:rPr>
              <a:t>How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can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a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reasoning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system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know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when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0010" y="8981323"/>
            <a:ext cx="8692566" cy="4327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10" b="1" i="0">
                <a:solidFill>
                  <a:srgbClr val="0B0B0B"/>
                </a:solidFill>
                <a:latin typeface="Arial"/>
              </a:rPr>
              <a:t>its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existing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way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of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solving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problems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is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in-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0010" y="9538039"/>
            <a:ext cx="8692566" cy="4327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10" b="1" i="0">
                <a:solidFill>
                  <a:srgbClr val="0B0B0B"/>
                </a:solidFill>
                <a:latin typeface="Arial"/>
              </a:rPr>
              <a:t>adequate, and acquire a better one without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0010" y="10094755"/>
            <a:ext cx="8692565" cy="4327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10" b="1" i="0">
                <a:solidFill>
                  <a:srgbClr val="0B0B0B"/>
                </a:solidFill>
                <a:latin typeface="Arial"/>
              </a:rPr>
              <a:t>compromising the evidence used to judge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0010" y="10651459"/>
            <a:ext cx="579578" cy="4327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10" b="1" i="0">
                <a:solidFill>
                  <a:srgbClr val="0B0B0B"/>
                </a:solidFill>
                <a:latin typeface="Arial"/>
              </a:rPr>
              <a:t>it?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0010" y="11355065"/>
            <a:ext cx="7015358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A failed solve can need different responses: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7210" y="11823213"/>
            <a:ext cx="3504988" cy="3608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•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search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</a:t>
            </a:r>
            <a:r>
              <a:rPr sz="2840" b="1" i="0">
                <a:solidFill>
                  <a:srgbClr val="0B0B0B"/>
                </a:solidFill>
                <a:latin typeface="Arial"/>
              </a:rPr>
              <a:t>correction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: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84018" y="11823213"/>
            <a:ext cx="4608739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answer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is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expressible,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96669" y="12291348"/>
            <a:ext cx="2655747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search missed it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07210" y="12849640"/>
            <a:ext cx="8485527" cy="3608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•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representation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</a:t>
            </a:r>
            <a:r>
              <a:rPr sz="2840" b="1" i="0">
                <a:solidFill>
                  <a:srgbClr val="0B0B0B"/>
                </a:solidFill>
                <a:latin typeface="Arial"/>
              </a:rPr>
              <a:t>correction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: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needed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view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was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96669" y="13317788"/>
            <a:ext cx="2135406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screened out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07210" y="13876080"/>
            <a:ext cx="8485630" cy="3608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•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executable capability construction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: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the language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96669" y="14344228"/>
            <a:ext cx="1145570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lacks it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07211" y="14902519"/>
            <a:ext cx="8485531" cy="3608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•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evidence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</a:t>
            </a:r>
            <a:r>
              <a:rPr sz="2840" b="1" i="0">
                <a:solidFill>
                  <a:srgbClr val="0B0B0B"/>
                </a:solidFill>
                <a:latin typeface="Arial"/>
              </a:rPr>
              <a:t>insufficiency</a:t>
            </a:r>
            <a:r>
              <a:rPr sz="2840" b="0" i="0">
                <a:solidFill>
                  <a:srgbClr val="0B0B0B"/>
                </a:solidFill>
                <a:latin typeface="Arial"/>
              </a:rPr>
              <a:t>: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examples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underdeter-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96669" y="15370667"/>
            <a:ext cx="2140455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mine the rule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07211" y="15928959"/>
            <a:ext cx="3682306" cy="3608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•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certification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</a:t>
            </a:r>
            <a:r>
              <a:rPr sz="2840" b="1" i="0">
                <a:solidFill>
                  <a:srgbClr val="0B0B0B"/>
                </a:solidFill>
                <a:latin typeface="Arial"/>
              </a:rPr>
              <a:t>failure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79480" y="15928959"/>
            <a:ext cx="4513180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a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valid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candidate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fails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the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96669" y="16397107"/>
            <a:ext cx="1165763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checks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0010" y="17922392"/>
            <a:ext cx="3603396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The CORA loop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0010" y="29058272"/>
            <a:ext cx="5096379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Solid: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implemented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measured.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00290" y="29058272"/>
            <a:ext cx="3392539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Dashed: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proposed,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0010" y="29463159"/>
            <a:ext cx="8692613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automated.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general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failure-type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controller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is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proposed,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not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0010" y="29868034"/>
            <a:ext cx="2065260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implemented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0010" y="31416863"/>
            <a:ext cx="8093543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Four claims, four kinds of evidence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00010" y="32630185"/>
            <a:ext cx="3967251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(a)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the extension causes the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00010" y="33035059"/>
            <a:ext cx="772400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solve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113527" y="32630185"/>
            <a:ext cx="3702243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development only: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nothing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113527" y="33035059"/>
            <a:ext cx="3733184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accepted without it, or with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113527" y="33439949"/>
            <a:ext cx="3142839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matched compute; not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113527" y="33844827"/>
            <a:ext cx="1157421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certified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0010" y="34249714"/>
            <a:ext cx="3285961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(b)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the real failure trace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00010" y="34654588"/>
            <a:ext cx="1092730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matters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113527" y="34249714"/>
            <a:ext cx="3469419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demonstrations-only and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113527" y="34654588"/>
            <a:ext cx="4266023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shuffled failures never gave an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113527" y="35059466"/>
            <a:ext cx="3950068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accepted, used extension (4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113527" y="35464356"/>
            <a:ext cx="884281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tasks)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0010" y="35869230"/>
            <a:ext cx="3333781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(c)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a bounded semantic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00010" y="36274120"/>
            <a:ext cx="1378995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extension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113527" y="35869488"/>
            <a:ext cx="2339982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not established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0010" y="36678995"/>
            <a:ext cx="3924119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(d)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retention and later reuse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113527" y="36679252"/>
            <a:ext cx="1353056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untested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00010" y="38284605"/>
            <a:ext cx="5912174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Repairs tested before use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71155" y="39582179"/>
            <a:ext cx="8521561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• Forcing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view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to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be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searched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first: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task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gained,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5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243786" y="39987056"/>
            <a:ext cx="8348738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24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synthetic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tasks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harmed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(4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correct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answers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lost,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1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false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243786" y="40391943"/>
            <a:ext cx="3145306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acceptance).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Not run.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71155" y="40874953"/>
            <a:ext cx="8521559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• Fold-local removal of duplicate views: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gained 1, harmed 4 of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243786" y="41279827"/>
            <a:ext cx="1982132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41.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Rejected.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73879" y="7242123"/>
            <a:ext cx="5848710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What has been measured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873879" y="12129246"/>
            <a:ext cx="8620645" cy="3125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synthetic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claim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only.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repaired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engine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also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accepted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ev-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873879" y="12534136"/>
            <a:ext cx="8620646" cy="3125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ery deliberately wrong extension it was given (5 of 5, 28 of 28).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873879" y="19493698"/>
            <a:ext cx="8620646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One constructed extension was accepted and used by the un-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873879" y="19898574"/>
            <a:ext cx="8620671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changed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engine;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none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survived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adaptive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leave-one-out.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No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873879" y="20303463"/>
            <a:ext cx="8456248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new ARC solve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 certified training score stays 185/1,000.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873879" y="21857132"/>
            <a:ext cx="7238210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Where CORA fails on real tasks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873879" y="30352615"/>
            <a:ext cx="8620649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checks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are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not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problem</a:t>
            </a:r>
            <a:r>
              <a:rPr sz="2460" b="0" i="0">
                <a:solidFill>
                  <a:srgbClr val="0B0B0B"/>
                </a:solidFill>
                <a:latin typeface="Arial"/>
              </a:rPr>
              <a:t>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nothing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wrong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was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cer-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73879" y="30757502"/>
            <a:ext cx="8620643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tified,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switching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leave-one-out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off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would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add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2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right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an-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873879" y="31162380"/>
            <a:ext cx="8620525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swers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26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wrong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ones.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rules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are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27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“fits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all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873878" y="31567266"/>
            <a:ext cx="8620647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demos”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tasks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(26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with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CORA’s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frozen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library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loaded)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pro-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873878" y="31972144"/>
            <a:ext cx="8620644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grams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memorize.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21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25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use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constant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parameters,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mostly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873878" y="32377031"/>
            <a:ext cx="8620641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grown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cell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pattern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keyed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to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colour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exact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shape,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873878" y="32781909"/>
            <a:ext cx="8620644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each leave-one-out fold rebuilds a different one (59 of 74 failed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873878" y="33186783"/>
            <a:ext cx="892407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folds).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045011" y="33685426"/>
            <a:ext cx="8449701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• Native’s own relational re-search finds no program (0 of 11).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1045011" y="34168444"/>
            <a:ext cx="7294953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• Three times the search budget fixes none (0 of 14).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045011" y="34651450"/>
            <a:ext cx="8449704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• Given the true answer as a demonstration (diagnostic only),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217642" y="35056325"/>
            <a:ext cx="8276877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it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fits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26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27,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same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view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24,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by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memorizing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one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1217642" y="35461215"/>
            <a:ext cx="1591818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more case.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1045011" y="35944221"/>
            <a:ext cx="8449698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• The view-admission failure we first traced explains only 7 of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1217642" y="36349108"/>
            <a:ext cx="2042469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76 failed folds.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873878" y="36847738"/>
            <a:ext cx="8620647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Frozen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neural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guides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did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pick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views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better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than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fixed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873878" y="37252625"/>
            <a:ext cx="8620652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order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(Qwen2.5-1.5B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19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35,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I-JEPA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3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35;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pre-registered,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873878" y="37657502"/>
            <a:ext cx="1474937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synthetic).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0775739" y="7252460"/>
            <a:ext cx="7183880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Competition status, 14 October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0775739" y="8421420"/>
            <a:ext cx="6456945" cy="3223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OFFICIAL KAGGLE</a:t>
            </a:r>
            <a:r>
              <a:rPr sz="2480" b="0" i="1">
                <a:solidFill>
                  <a:srgbClr val="0B0B0B"/>
                </a:solidFill>
                <a:latin typeface="Arial"/>
              </a:rPr>
              <a:t> ·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native CORA v23: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0.00</a:t>
            </a:r>
            <a:r>
              <a:rPr sz="2460" b="0" i="0">
                <a:solidFill>
                  <a:srgbClr val="0B0B0B"/>
                </a:solidFill>
                <a:latin typeface="Arial"/>
              </a:rPr>
              <a:t>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0775741" y="8920060"/>
            <a:ext cx="8620622" cy="3223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NEURAL_TTT_BASELINE</a:t>
            </a:r>
            <a:r>
              <a:rPr sz="2480" b="0" i="1">
                <a:solidFill>
                  <a:srgbClr val="0B0B0B"/>
                </a:solidFill>
                <a:latin typeface="Arial"/>
              </a:rPr>
              <a:t> </a:t>
            </a:r>
            <a:r>
              <a:rPr sz="2480" b="0" i="1">
                <a:solidFill>
                  <a:srgbClr val="0B0B0B"/>
                </a:solidFill>
                <a:latin typeface="Arial"/>
              </a:rPr>
              <a:t>·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reproduction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public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0775741" y="9334483"/>
            <a:ext cx="8620666" cy="312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NVARC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Qwen3-4B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test-time-training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pipeline,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not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CORA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of-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0775742" y="9739373"/>
            <a:ext cx="8620797" cy="312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ficial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public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score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27.64</a:t>
            </a:r>
            <a:r>
              <a:rPr sz="2460" b="0" i="0">
                <a:solidFill>
                  <a:srgbClr val="0B0B0B"/>
                </a:solidFill>
                <a:latin typeface="Arial"/>
              </a:rPr>
              <a:t>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equal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to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NVARC’s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own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2025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public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0775742" y="10144248"/>
            <a:ext cx="8620648" cy="3125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score.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240-task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stand-in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decoded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every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task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(259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0775742" y="10549138"/>
            <a:ext cx="6298331" cy="3125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259 genuine predictions, 0 fallbacks) in 4.3 h.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0775742" y="11038228"/>
            <a:ext cx="8620816" cy="3223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DEVELOPMENT</a:t>
            </a:r>
            <a:r>
              <a:rPr sz="2480" b="0" i="1">
                <a:solidFill>
                  <a:srgbClr val="0B0B0B"/>
                </a:solidFill>
                <a:latin typeface="Arial"/>
              </a:rPr>
              <a:t> </a:t>
            </a:r>
            <a:r>
              <a:rPr sz="2480" b="0" i="1">
                <a:solidFill>
                  <a:srgbClr val="0B0B0B"/>
                </a:solidFill>
                <a:latin typeface="Arial"/>
              </a:rPr>
              <a:t>·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whole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native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harness: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12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60;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18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its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0775744" y="11452652"/>
            <a:ext cx="8620647" cy="3125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29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claimed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answers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were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wrong,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because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pipeline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layer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0775744" y="11857526"/>
            <a:ext cx="1945279" cy="3125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answers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first.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2977115" y="11857526"/>
            <a:ext cx="6419267" cy="3125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Reordering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answers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already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produces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0775744" y="12262416"/>
            <a:ext cx="8620638" cy="3125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(shadow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study):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14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60,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36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to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39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60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synthetic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0775744" y="12667291"/>
            <a:ext cx="7128998" cy="3125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C2-dev, none lost.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Engineering only; not submitted.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0775739" y="14220978"/>
            <a:ext cx="8171913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Constructing the missing operation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0775739" y="14904214"/>
            <a:ext cx="6568944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EB6834"/>
                </a:solidFill>
                <a:latin typeface="Arial"/>
              </a:rPr>
              <a:t>SYNTHETIC DEVELOPMENT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0775739" y="21956355"/>
            <a:ext cx="8620540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Implemented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(CORA-FHR):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declared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grammar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37,750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0775739" y="22361231"/>
            <a:ext cx="3605060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typed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growth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operators;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4628766" y="22361231"/>
            <a:ext cx="4767612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CORA’s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own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memorized-growth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0775739" y="22766120"/>
            <a:ext cx="8620642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record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evidence;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reversible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installation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into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unchanged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0775739" y="23170996"/>
            <a:ext cx="8452507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engine; leave-one-out that rebuilds the operator in every fold.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0946884" y="23669637"/>
            <a:ext cx="3743309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•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One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complete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witness.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4946635" y="23669637"/>
            <a:ext cx="2842821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Frozen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CORA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fails.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8045860" y="23669637"/>
            <a:ext cx="1350556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con-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1119515" y="24074525"/>
            <a:ext cx="8276879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structed one-step operator (a ring around the minority-colour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1119515" y="24479401"/>
            <a:ext cx="8276869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cell)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new: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300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perturbed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shapes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native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reproduces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it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1119515" y="24884290"/>
            <a:ext cx="8276866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7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times,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best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existing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constructor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8.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task’s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planted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1119515" y="25289166"/>
            <a:ext cx="8276879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second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step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adds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nothing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its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shapes,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so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this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1119515" y="25694042"/>
            <a:ext cx="8276873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two-step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rule.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All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3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folds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rebuild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predict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exactly.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1119515" y="26098930"/>
            <a:ext cx="8276873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committed answer is correct,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 removing the operator re-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21119515" y="26503805"/>
            <a:ext cx="2244360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moves the gain.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0946884" y="26986827"/>
            <a:ext cx="8449684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• 27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development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tasks: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0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wrong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certificates,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0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lost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answers.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119515" y="27391701"/>
            <a:ext cx="4280099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Matched extra search: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0 of 15.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0946884" y="27874707"/>
            <a:ext cx="8449532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•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Not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yet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shown: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that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failure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record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what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matters.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1119515" y="28279597"/>
            <a:ext cx="8276876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failure-blind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constructor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found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same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operator,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on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21119515" y="28684472"/>
            <a:ext cx="8276869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this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corpus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its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evidence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equals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authentic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arm’s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by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de-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21119515" y="29089359"/>
            <a:ext cx="5031390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sign.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 prospective test is sealed.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0775739" y="30736781"/>
            <a:ext cx="8385869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A portable controller?</a:t>
            </a:r>
            <a:r>
              <a:rPr sz="3790" b="1" i="0">
                <a:solidFill>
                  <a:srgbClr val="D03B3B"/>
                </a:solidFill>
                <a:latin typeface="Arial"/>
              </a:rPr>
              <a:t> </a:t>
            </a:r>
            <a:r>
              <a:rPr sz="3790" b="1" i="0">
                <a:solidFill>
                  <a:srgbClr val="D03B3B"/>
                </a:solidFill>
                <a:latin typeface="Arial"/>
              </a:rPr>
              <a:t>BIOLOGICAL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20775739" y="31420026"/>
            <a:ext cx="6151134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D03B3B"/>
                </a:solidFill>
                <a:latin typeface="Arial"/>
              </a:rPr>
              <a:t>APPLICATION: UNTESTED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21438945" y="32878532"/>
            <a:ext cx="1681853" cy="2644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080" b="1" i="0">
                <a:solidFill>
                  <a:srgbClr val="2A78D6"/>
                </a:solidFill>
                <a:latin typeface="Arial"/>
              </a:rPr>
              <a:t>implemented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7315935" y="32929968"/>
            <a:ext cx="1152707" cy="2644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080" b="1" i="0">
                <a:solidFill>
                  <a:srgbClr val="D03B3B"/>
                </a:solidFill>
                <a:latin typeface="Arial"/>
              </a:rPr>
              <a:t>untested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0775739" y="34963999"/>
            <a:ext cx="8620642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Portable: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repair-and-verification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contract,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ARC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op-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20775739" y="35368889"/>
            <a:ext cx="8620639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erators.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test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needs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held-out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perturbations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cell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states,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0775739" y="35773763"/>
            <a:ext cx="7313069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and controls.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 biological data or result exists here.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20775739" y="37264863"/>
            <a:ext cx="5395605" cy="544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Not claimed</a:t>
            </a:r>
            <a:r>
              <a:rPr sz="4280" b="0" i="1">
                <a:solidFill>
                  <a:srgbClr val="2A78D6"/>
                </a:solidFill>
                <a:latin typeface="Arial"/>
              </a:rPr>
              <a:t> </a:t>
            </a:r>
            <a:r>
              <a:rPr sz="4280" b="0" i="1">
                <a:solidFill>
                  <a:srgbClr val="2A78D6"/>
                </a:solidFill>
                <a:latin typeface="Arial"/>
              </a:rPr>
              <a:t>·</a:t>
            </a:r>
            <a:r>
              <a:rPr sz="3790" b="1" i="0">
                <a:solidFill>
                  <a:srgbClr val="2A78D6"/>
                </a:solidFill>
                <a:latin typeface="Arial"/>
              </a:rPr>
              <a:t> </a:t>
            </a:r>
            <a:r>
              <a:rPr sz="3790" b="1" i="0">
                <a:solidFill>
                  <a:srgbClr val="2A78D6"/>
                </a:solidFill>
                <a:latin typeface="Arial"/>
              </a:rPr>
              <a:t>evidence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0775739" y="38412430"/>
            <a:ext cx="8092172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No CORA solve or score gain on ARC-AGI-2; no semantic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0775739" y="38817320"/>
            <a:ext cx="8601890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invention; no automatic failure-type controller; no evidence yet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0775739" y="39222195"/>
            <a:ext cx="7994048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that failure records cause a gain; the neural score is not a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0775739" y="39627085"/>
            <a:ext cx="7637772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CORA result; no domain generality; no results from the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0775739" y="40031959"/>
            <a:ext cx="8453031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separate VDCG project.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 120-task pilot is frozen and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has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0775741" y="40436837"/>
            <a:ext cx="2030271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not been run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.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0775741" y="40909223"/>
            <a:ext cx="4459778" cy="2644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080" b="0" i="0">
                <a:solidFill>
                  <a:srgbClr val="0B0B0B"/>
                </a:solidFill>
                <a:latin typeface="Arial"/>
              </a:rPr>
              <a:t>Every number, with commit and hash: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20775741" y="41250213"/>
            <a:ext cx="7289872" cy="27835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90" b="0" i="0">
                <a:solidFill>
                  <a:srgbClr val="0B0B0B"/>
                </a:solidFill>
                <a:latin typeface="Courier New"/>
              </a:rPr>
              <a:t>records/CORA_SUMMIT_POSTER_EVIDENCE_20261012.md</a:t>
            </a:r>
            <a:r>
              <a:rPr sz="2080" b="0" i="0">
                <a:solidFill>
                  <a:srgbClr val="0B0B0B"/>
                </a:solidFill>
                <a:latin typeface="Arial"/>
              </a:rPr>
              <a:t> and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0775741" y="41591833"/>
            <a:ext cx="7438654" cy="27835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90" b="0" i="0">
                <a:solidFill>
                  <a:srgbClr val="0B0B0B"/>
                </a:solidFill>
                <a:latin typeface="Courier New"/>
              </a:rPr>
              <a:t>records/CORA_FAILURE_FUNNEL_20261014.md</a:t>
            </a:r>
            <a:r>
              <a:rPr sz="2080" b="0" i="0">
                <a:solidFill>
                  <a:srgbClr val="0B0B0B"/>
                </a:solidFill>
                <a:latin typeface="Arial"/>
              </a:rPr>
              <a:t>; figure hashes: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20775739" y="41933449"/>
            <a:ext cx="3415022" cy="27835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90" b="0" i="0">
                <a:solidFill>
                  <a:srgbClr val="0B0B0B"/>
                </a:solidFill>
                <a:latin typeface="Courier New"/>
              </a:rPr>
              <a:t>figures/PROVENANCE.json</a:t>
            </a:r>
            <a:r>
              <a:rPr sz="2080" b="0" i="0">
                <a:solidFill>
                  <a:srgbClr val="0B0B0B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When Search Is Not Enough (CORA, ARC Prize Research Summit 2026)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