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9487" y="8040544"/>
            <a:ext cx="7782369" cy="7497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3938" y="467733"/>
            <a:ext cx="29368136" cy="452033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7288" y="6772880"/>
            <a:ext cx="9367047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7288" y="14326954"/>
            <a:ext cx="9367047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7288" y="22234121"/>
            <a:ext cx="9367047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7288" y="30480236"/>
            <a:ext cx="9367047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7288" y="37046629"/>
            <a:ext cx="9367047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1280" y="7362610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1280" y="20128406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1280" y="32727153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413274" y="7456127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413274" y="17547756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413274" y="23233080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413274" y="28283573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413274" y="33036474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ig_failure_funnel_dev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3879" y="8009309"/>
            <a:ext cx="8569876" cy="6855900"/>
          </a:xfrm>
          <a:prstGeom prst="rect">
            <a:avLst/>
          </a:prstGeom>
        </p:spPr>
      </p:pic>
      <p:pic>
        <p:nvPicPr>
          <p:cNvPr id="18" name="Picture 17" descr="fig_fhr_real_witness_ka95aa62f67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3879" y="20774936"/>
            <a:ext cx="8569876" cy="541255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076092" y="932217"/>
            <a:ext cx="24174848" cy="10096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50" b="1" i="0">
                <a:solidFill>
                  <a:srgbClr val="0B0B0B"/>
                </a:solidFill>
                <a:latin typeface="Arial"/>
              </a:rPr>
              <a:t>Learning What to Change:</a:t>
            </a:r>
            <a:r>
              <a:rPr sz="7950" b="1" i="0">
                <a:solidFill>
                  <a:srgbClr val="0B0B0B"/>
                </a:solidFill>
                <a:latin typeface="Arial"/>
              </a:rPr>
              <a:t> </a:t>
            </a:r>
            <a:r>
              <a:rPr sz="7950" b="1" i="0">
                <a:solidFill>
                  <a:srgbClr val="0B0B0B"/>
                </a:solidFill>
                <a:latin typeface="Arial"/>
              </a:rPr>
              <a:t>From Visual 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344" y="2197467"/>
            <a:ext cx="15970270" cy="10096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50" b="1" i="0">
                <a:solidFill>
                  <a:srgbClr val="0B0B0B"/>
                </a:solidFill>
                <a:latin typeface="Arial"/>
              </a:rPr>
              <a:t>to Scientific Hypothesis Revision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6767" y="3308636"/>
            <a:ext cx="6542409" cy="625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920" b="0" i="0">
                <a:solidFill>
                  <a:srgbClr val="0B0B0B"/>
                </a:solidFill>
                <a:latin typeface="Arial"/>
              </a:rPr>
              <a:t>Chimdi Walter Ndubuisi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7170" y="3308636"/>
            <a:ext cx="5983006" cy="625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920" b="0" i="0">
                <a:solidFill>
                  <a:srgbClr val="0B0B0B"/>
                </a:solidFill>
                <a:latin typeface="Arial"/>
              </a:rPr>
              <a:t>University of Missouri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7825" y="3945056"/>
            <a:ext cx="24791221" cy="544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0" i="0">
                <a:solidFill>
                  <a:srgbClr val="52514E"/>
                </a:solidFill>
                <a:latin typeface="Arial"/>
              </a:rPr>
              <a:t>Executable reasoning, failure diagnosis and generalization across semantic domains</a:t>
            </a:r>
            <a:r>
              <a:rPr sz="4280" b="0" i="1">
                <a:solidFill>
                  <a:srgbClr val="52514E"/>
                </a:solidFill>
                <a:latin typeface="Arial"/>
              </a:rPr>
              <a:t> </a:t>
            </a:r>
            <a:r>
              <a:rPr sz="4280" b="0" i="1">
                <a:solidFill>
                  <a:srgbClr val="52514E"/>
                </a:solidFill>
                <a:latin typeface="Arial"/>
              </a:rPr>
              <a:t>·</a:t>
            </a:r>
            <a:r>
              <a:rPr sz="3790" b="0" i="0">
                <a:solidFill>
                  <a:srgbClr val="D03B3B"/>
                </a:solidFill>
                <a:latin typeface="Arial"/>
              </a:rPr>
              <a:t> </a:t>
            </a:r>
            <a:r>
              <a:rPr sz="3790" b="0" i="0">
                <a:solidFill>
                  <a:srgbClr val="D03B3B"/>
                </a:solidFill>
                <a:latin typeface="Arial"/>
              </a:rPr>
              <a:t>REVIEW DRAFT, 18 October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76092" y="932217"/>
            <a:ext cx="24174848" cy="10096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50" b="1" i="0">
                <a:solidFill>
                  <a:srgbClr val="0B0B0B"/>
                </a:solidFill>
                <a:latin typeface="Arial"/>
              </a:rPr>
              <a:t>Learning What to Change:</a:t>
            </a:r>
            <a:r>
              <a:rPr sz="7950" b="1" i="0">
                <a:solidFill>
                  <a:srgbClr val="0B0B0B"/>
                </a:solidFill>
                <a:latin typeface="Arial"/>
              </a:rPr>
              <a:t> </a:t>
            </a:r>
            <a:r>
              <a:rPr sz="7950" b="1" i="0">
                <a:solidFill>
                  <a:srgbClr val="0B0B0B"/>
                </a:solidFill>
                <a:latin typeface="Arial"/>
              </a:rPr>
              <a:t>From Visual Reasoning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344" y="2197467"/>
            <a:ext cx="15970270" cy="10096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50" b="1" i="0">
                <a:solidFill>
                  <a:srgbClr val="0B0B0B"/>
                </a:solidFill>
                <a:latin typeface="Arial"/>
              </a:rPr>
              <a:t>to Scientific Hypothesis Revision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6767" y="3308636"/>
            <a:ext cx="6542409" cy="625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920" b="0" i="0">
                <a:solidFill>
                  <a:srgbClr val="0B0B0B"/>
                </a:solidFill>
                <a:latin typeface="Arial"/>
              </a:rPr>
              <a:t>Chimdi Walter Ndubuisi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7170" y="3308636"/>
            <a:ext cx="5983006" cy="625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920" b="0" i="0">
                <a:solidFill>
                  <a:srgbClr val="0B0B0B"/>
                </a:solidFill>
                <a:latin typeface="Arial"/>
              </a:rPr>
              <a:t>University of Missouri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7825" y="3945056"/>
            <a:ext cx="24791221" cy="544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0" i="0">
                <a:solidFill>
                  <a:srgbClr val="52514E"/>
                </a:solidFill>
                <a:latin typeface="Arial"/>
              </a:rPr>
              <a:t>Executable reasoning, failure diagnosis and generalization across semantic domains</a:t>
            </a:r>
            <a:r>
              <a:rPr sz="4280" b="0" i="1">
                <a:solidFill>
                  <a:srgbClr val="52514E"/>
                </a:solidFill>
                <a:latin typeface="Arial"/>
              </a:rPr>
              <a:t> </a:t>
            </a:r>
            <a:r>
              <a:rPr sz="4280" b="0" i="1">
                <a:solidFill>
                  <a:srgbClr val="52514E"/>
                </a:solidFill>
                <a:latin typeface="Arial"/>
              </a:rPr>
              <a:t>·</a:t>
            </a:r>
            <a:r>
              <a:rPr sz="3790" b="0" i="0">
                <a:solidFill>
                  <a:srgbClr val="D03B3B"/>
                </a:solidFill>
                <a:latin typeface="Arial"/>
              </a:rPr>
              <a:t> </a:t>
            </a:r>
            <a:r>
              <a:rPr sz="3790" b="0" i="0">
                <a:solidFill>
                  <a:srgbClr val="D03B3B"/>
                </a:solidFill>
                <a:latin typeface="Arial"/>
              </a:rPr>
              <a:t>REVIEW DRAFT, 18 October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9997" y="5977332"/>
            <a:ext cx="3042789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The 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010" y="7145908"/>
            <a:ext cx="8692853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How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can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a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system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learn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to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reason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about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things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it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was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010" y="7614043"/>
            <a:ext cx="7369823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never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explicitly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programmed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to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understand?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00183" y="7614043"/>
            <a:ext cx="992678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Three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010" y="8082191"/>
            <a:ext cx="967074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parts: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810" y="8550340"/>
            <a:ext cx="3159640" cy="3608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1.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Representation: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17313" y="8550340"/>
            <a:ext cx="5175235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can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it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induce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right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entities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68792" y="9018488"/>
            <a:ext cx="5174513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from sparse data of a new kind?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810" y="9576779"/>
            <a:ext cx="8587779" cy="3608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2.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Rules: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can it discover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the executable rules that 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68792" y="10044927"/>
            <a:ext cx="1554125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on them?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4810" y="10603219"/>
            <a:ext cx="8587819" cy="3608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3.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Revision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</a:t>
            </a:r>
            <a:r>
              <a:rPr sz="2840" b="1" i="0">
                <a:solidFill>
                  <a:srgbClr val="0B0B0B"/>
                </a:solidFill>
                <a:latin typeface="Arial"/>
              </a:rPr>
              <a:t>and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</a:t>
            </a:r>
            <a:r>
              <a:rPr sz="2840" b="1" i="0">
                <a:solidFill>
                  <a:srgbClr val="0B0B0B"/>
                </a:solidFill>
                <a:latin typeface="Arial"/>
              </a:rPr>
              <a:t>transfer: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when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it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fails,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can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it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tell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68792" y="11071355"/>
            <a:ext cx="8223968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1">
                <a:solidFill>
                  <a:srgbClr val="0B0B0B"/>
                </a:solidFill>
                <a:latin typeface="Arial"/>
              </a:rPr>
              <a:t>which</a:t>
            </a:r>
            <a:r>
              <a:rPr sz="2840" b="0" i="1">
                <a:solidFill>
                  <a:srgbClr val="0B0B0B"/>
                </a:solidFill>
                <a:latin typeface="Arial"/>
              </a:rPr>
              <a:t> </a:t>
            </a:r>
            <a:r>
              <a:rPr sz="2840" b="0" i="1">
                <a:solidFill>
                  <a:srgbClr val="0B0B0B"/>
                </a:solidFill>
                <a:latin typeface="Arial"/>
              </a:rPr>
              <a:t>part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to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change,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and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does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that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procedure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68792" y="11539503"/>
            <a:ext cx="8213259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carry over to a domain whose meaning is different?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010" y="11981401"/>
            <a:ext cx="8329987" cy="3125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These questions were shaped in discussion with Toni Kazic.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010" y="13531305"/>
            <a:ext cx="8117584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Why one solved puzzle proves little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010" y="14708171"/>
            <a:ext cx="8692852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Several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programs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can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fit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every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demonstration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and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still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010" y="15176320"/>
            <a:ext cx="8692851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disagree on the test.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On 60 exposed ARC-AGI-2 train-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010" y="15644468"/>
            <a:ext cx="8692851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ing tasks, CORA’s object reasoner had demonstration-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010" y="16112604"/>
            <a:ext cx="8692720" cy="3608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fitting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programs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that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were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</a:t>
            </a:r>
            <a:r>
              <a:rPr sz="2840" b="1" i="0">
                <a:solidFill>
                  <a:srgbClr val="0B0B0B"/>
                </a:solidFill>
                <a:latin typeface="Arial"/>
              </a:rPr>
              <a:t>all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</a:t>
            </a:r>
            <a:r>
              <a:rPr sz="2840" b="1" i="0">
                <a:solidFill>
                  <a:srgbClr val="0B0B0B"/>
                </a:solidFill>
                <a:latin typeface="Arial"/>
              </a:rPr>
              <a:t>wrong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on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26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tasks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(with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010" y="16580752"/>
            <a:ext cx="2871022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its frozen assets).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010" y="17193133"/>
            <a:ext cx="8692850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A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failure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can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come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from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three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different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places,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and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010" y="17661281"/>
            <a:ext cx="4991330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each needs a different change: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7210" y="18237607"/>
            <a:ext cx="6782158" cy="3608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• the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representation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(which objects exist);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7210" y="18795899"/>
            <a:ext cx="5491596" cy="3608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• the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rule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(what happens to them);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7210" y="19354190"/>
            <a:ext cx="7219208" cy="3608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• the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evidence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(the examples do not decide).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010" y="19930516"/>
            <a:ext cx="8271314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The wrong revision can break what already worked.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010" y="21531885"/>
            <a:ext cx="3470697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Where this sits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7210" y="22748719"/>
            <a:ext cx="8485328" cy="3608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•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Popper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(Cropper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&amp;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Morel):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program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induction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that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96669" y="23216868"/>
            <a:ext cx="4842764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learns from failed hypotheses.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7210" y="23775159"/>
            <a:ext cx="8485322" cy="3608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•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DreamCoder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(Ellis et al.),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LILO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(Grand et al.):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grow-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96669" y="24243307"/>
            <a:ext cx="4902263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ing reusable program libraries.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7210" y="24801599"/>
            <a:ext cx="8485559" cy="3608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•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Model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</a:t>
            </a:r>
            <a:r>
              <a:rPr sz="2840" b="1" i="0">
                <a:solidFill>
                  <a:srgbClr val="0B0B0B"/>
                </a:solidFill>
                <a:latin typeface="Arial"/>
              </a:rPr>
              <a:t>Discovery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</a:t>
            </a:r>
            <a:r>
              <a:rPr sz="2840" b="1" i="0">
                <a:solidFill>
                  <a:srgbClr val="0B0B0B"/>
                </a:solidFill>
                <a:latin typeface="Arial"/>
              </a:rPr>
              <a:t>Agent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(Murphy):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model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inade-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96669" y="25269747"/>
            <a:ext cx="8295835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quacy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driving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hypothesis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revision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and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experiment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96669" y="25737895"/>
            <a:ext cx="1213361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design.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7210" y="26296187"/>
            <a:ext cx="8485509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• Frontier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neural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reasoners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are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strong;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they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are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com-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96669" y="26764322"/>
            <a:ext cx="3967957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parisons, not straw men.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0010" y="27339695"/>
            <a:ext cx="8692652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The narrower question here: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choosing</a:t>
            </a:r>
            <a:r>
              <a:rPr sz="2460" b="0" i="1">
                <a:solidFill>
                  <a:srgbClr val="0B0B0B"/>
                </a:solidFill>
                <a:latin typeface="Arial"/>
              </a:rPr>
              <a:t> which component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to re-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0009" y="27744585"/>
            <a:ext cx="8692819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vise,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and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showing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that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this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choice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beats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equally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equipped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0009" y="28149460"/>
            <a:ext cx="5535464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system that does not use the diagnosis.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0010" y="29703138"/>
            <a:ext cx="7697369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Four achievements, four statuses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0010" y="31112888"/>
            <a:ext cx="1805267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achievement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91211" y="31112888"/>
            <a:ext cx="884594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status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0010" y="31798170"/>
            <a:ext cx="4483222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detect certain reasoning failures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91211" y="31798170"/>
            <a:ext cx="2145599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built, with limits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0010" y="32304276"/>
            <a:ext cx="4769486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construct and verify an executable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0010" y="32709153"/>
            <a:ext cx="1422747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correction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91262" y="32304276"/>
            <a:ext cx="2985018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shown: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one synthetic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91262" y="32709153"/>
            <a:ext cx="3185653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task, one exposed real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91262" y="33114043"/>
            <a:ext cx="623955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task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0010" y="33620137"/>
            <a:ext cx="4391654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learn to choose better revisions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0010" y="34025027"/>
            <a:ext cx="1760577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from failures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91262" y="33620394"/>
            <a:ext cx="2339983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1" i="0">
                <a:solidFill>
                  <a:srgbClr val="0B0B0B"/>
                </a:solidFill>
                <a:latin typeface="Arial"/>
              </a:rPr>
              <a:t>not established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0010" y="34531120"/>
            <a:ext cx="6535256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transfer a revision policy to biology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</a:t>
            </a:r>
            <a:r>
              <a:rPr sz="2460" b="1" i="0">
                <a:solidFill>
                  <a:srgbClr val="0B0B0B"/>
                </a:solidFill>
                <a:latin typeface="Arial"/>
              </a:rPr>
              <a:t>not tested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0010" y="36243245"/>
            <a:ext cx="3097119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The message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0010" y="37427557"/>
            <a:ext cx="8692851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Intelligence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may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require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more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than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finding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an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answer.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0010" y="37895705"/>
            <a:ext cx="8692850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It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may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require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recognizing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when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concepts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and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0010" y="38363841"/>
            <a:ext cx="8692853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rules used to build the answer are inadequate, and de-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0010" y="38831986"/>
            <a:ext cx="4110392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ciding what must change.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73879" y="5977332"/>
            <a:ext cx="7238210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Where CORA fails on real tasks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873879" y="6660567"/>
            <a:ext cx="1439818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EB6834"/>
                </a:solidFill>
                <a:latin typeface="Arial"/>
              </a:rPr>
              <a:t>DONE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873879" y="15156064"/>
            <a:ext cx="8620645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Object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reasoner,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60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exposed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training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tasks.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Figure: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run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with-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873879" y="15560938"/>
            <a:ext cx="8620648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out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frozen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assets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(27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all-wrong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fits;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check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off,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8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right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and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873879" y="15965828"/>
            <a:ext cx="8620648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26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wrong).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submitted,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with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assets: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26,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and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8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right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and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873879" y="16370703"/>
            <a:ext cx="8620646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25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wrong.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In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both,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check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accepted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6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answers,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all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correct,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873879" y="16775591"/>
            <a:ext cx="8620648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and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correct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candidate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existed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8.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This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is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one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branch,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not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873879" y="17180467"/>
            <a:ext cx="2296232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a reliable solver.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873879" y="18668200"/>
            <a:ext cx="7323310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Building a missing rule, verified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73879" y="19351434"/>
            <a:ext cx="3889949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EB6834"/>
                </a:solidFill>
                <a:latin typeface="Arial"/>
              </a:rPr>
              <a:t>DONE, NARROW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873879" y="26478343"/>
            <a:ext cx="8620779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1" i="0">
                <a:solidFill>
                  <a:srgbClr val="0B0B0B"/>
                </a:solidFill>
                <a:latin typeface="Arial"/>
              </a:rPr>
              <a:t>Real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</a:t>
            </a:r>
            <a:r>
              <a:rPr sz="2460" b="1" i="0">
                <a:solidFill>
                  <a:srgbClr val="0B0B0B"/>
                </a:solidFill>
                <a:latin typeface="Arial"/>
              </a:rPr>
              <a:t>training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</a:t>
            </a:r>
            <a:r>
              <a:rPr sz="2460" b="1" i="0">
                <a:solidFill>
                  <a:srgbClr val="0B0B0B"/>
                </a:solidFill>
                <a:latin typeface="Arial"/>
              </a:rPr>
              <a:t>task.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Frozen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CORA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and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extra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search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both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fail.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873880" y="26883230"/>
            <a:ext cx="8620676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CORA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built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rule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that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says</a:t>
            </a:r>
            <a:r>
              <a:rPr sz="2460" b="0" i="1">
                <a:solidFill>
                  <a:srgbClr val="0B0B0B"/>
                </a:solidFill>
                <a:latin typeface="Arial"/>
              </a:rPr>
              <a:t> </a:t>
            </a:r>
            <a:r>
              <a:rPr sz="2460" b="0" i="1">
                <a:solidFill>
                  <a:srgbClr val="0B0B0B"/>
                </a:solidFill>
                <a:latin typeface="Arial"/>
              </a:rPr>
              <a:t>where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it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applies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well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as</a:t>
            </a:r>
            <a:r>
              <a:rPr sz="2460" b="0" i="1">
                <a:solidFill>
                  <a:srgbClr val="0B0B0B"/>
                </a:solidFill>
                <a:latin typeface="Arial"/>
              </a:rPr>
              <a:t> </a:t>
            </a:r>
            <a:r>
              <a:rPr sz="2460" b="0" i="1">
                <a:solidFill>
                  <a:srgbClr val="0B0B0B"/>
                </a:solidFill>
                <a:latin typeface="Arial"/>
              </a:rPr>
              <a:t>what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873880" y="27288108"/>
            <a:ext cx="8620648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it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does: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colour-1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objects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shoot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ray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north-west,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others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south-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873880" y="27692998"/>
            <a:ext cx="728336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east.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807055" y="27692998"/>
            <a:ext cx="7687467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It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was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installed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reversibly,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rebuilt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in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3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of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3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leave-one-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873880" y="28097872"/>
            <a:ext cx="8620805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out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folds,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and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answered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correctly.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</a:t>
            </a:r>
            <a:r>
              <a:rPr sz="2460" b="1" i="0">
                <a:solidFill>
                  <a:srgbClr val="0B0B0B"/>
                </a:solidFill>
                <a:latin typeface="Arial"/>
              </a:rPr>
              <a:t>Limits: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failure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autopsy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873880" y="28502759"/>
            <a:ext cx="8620642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selected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task;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it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is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exposed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training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task;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failure-blind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73880" y="28907637"/>
            <a:ext cx="4527608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constructor found the same rule.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873880" y="29406276"/>
            <a:ext cx="8620822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1" i="0">
                <a:solidFill>
                  <a:srgbClr val="0B0B0B"/>
                </a:solidFill>
                <a:latin typeface="Arial"/>
              </a:rPr>
              <a:t>Synthetic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</a:t>
            </a:r>
            <a:r>
              <a:rPr sz="2460" b="1" i="0">
                <a:solidFill>
                  <a:srgbClr val="0B0B0B"/>
                </a:solidFill>
                <a:latin typeface="Arial"/>
              </a:rPr>
              <a:t>task: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single-step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ring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around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minority-colour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873879" y="29811150"/>
            <a:ext cx="3423796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cell, 3 of 3 folds, correct.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873879" y="31341541"/>
            <a:ext cx="8270002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Does learning from the failure help?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873879" y="32024789"/>
            <a:ext cx="4529408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D03B3B"/>
                </a:solidFill>
                <a:latin typeface="Arial"/>
              </a:rPr>
              <a:t>NOT ESTABLISHED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045011" y="33228836"/>
            <a:ext cx="8449698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• A frozen 10-case pilot: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failure record 2 correct, failure-blind 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217643" y="33633726"/>
            <a:ext cx="8276880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correct plus 1 tie abstention, 0 wrong, 0 lost.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One discordant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217643" y="34033131"/>
            <a:ext cx="4041509" cy="3179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pair (</a:t>
            </a:r>
            <a:r>
              <a:rPr sz="2480" b="0" i="1">
                <a:solidFill>
                  <a:srgbClr val="0B0B0B"/>
                </a:solidFill>
                <a:latin typeface="Arial"/>
              </a:rPr>
              <a:t>p</a:t>
            </a:r>
            <a:r>
              <a:rPr sz="2480" b="0" i="0">
                <a:solidFill>
                  <a:srgbClr val="0B0B0B"/>
                </a:solidFill>
                <a:latin typeface="Arial"/>
              </a:rPr>
              <a:t> = 0</a:t>
            </a:r>
            <a:r>
              <a:rPr sz="2480" b="0" i="1">
                <a:solidFill>
                  <a:srgbClr val="0B0B0B"/>
                </a:solidFill>
                <a:latin typeface="Arial"/>
              </a:rPr>
              <a:t>.</a:t>
            </a:r>
            <a:r>
              <a:rPr sz="2480" b="0" i="0">
                <a:solidFill>
                  <a:srgbClr val="0B0B0B"/>
                </a:solidFill>
                <a:latin typeface="Arial"/>
              </a:rPr>
              <a:t>5</a:t>
            </a:r>
            <a:r>
              <a:rPr sz="2460" b="0" i="0">
                <a:solidFill>
                  <a:srgbClr val="0B0B0B"/>
                </a:solidFill>
                <a:latin typeface="Arial"/>
              </a:rPr>
              <a:t>) is not evidence.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045011" y="34521607"/>
            <a:ext cx="8449698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• A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hand-designed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controller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that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picks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kind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of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revision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217643" y="34926497"/>
            <a:ext cx="7831542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missed the only task that extra search fixed: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6 against 7.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045011" y="35409503"/>
            <a:ext cx="8449702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• Why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construction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rarely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fires: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of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62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eligible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tasks,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20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left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no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217643" y="35814390"/>
            <a:ext cx="8276876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evidence and 39 had evidence no rule fitted.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Of 25 such real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217643" y="36219268"/>
            <a:ext cx="6292705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cases, 18 were inexpressible in the grammar.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873879" y="36769764"/>
            <a:ext cx="8620728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1" i="0">
                <a:solidFill>
                  <a:srgbClr val="0B0B0B"/>
                </a:solidFill>
                <a:latin typeface="Arial"/>
              </a:rPr>
              <a:t>Constructing a rule and learning which revision to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873879" y="37237913"/>
            <a:ext cx="5318026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1" i="0">
                <a:solidFill>
                  <a:srgbClr val="0B0B0B"/>
                </a:solidFill>
                <a:latin typeface="Arial"/>
              </a:rPr>
              <a:t>make are different capabilities.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0775739" y="5914765"/>
            <a:ext cx="8324676" cy="544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A revision architecture</a:t>
            </a:r>
            <a:r>
              <a:rPr sz="3790" b="1" i="0">
                <a:solidFill>
                  <a:srgbClr val="52514E"/>
                </a:solidFill>
                <a:latin typeface="Arial"/>
              </a:rPr>
              <a:t> </a:t>
            </a:r>
            <a:r>
              <a:rPr sz="3790" b="1" i="0">
                <a:solidFill>
                  <a:srgbClr val="52514E"/>
                </a:solidFill>
                <a:latin typeface="Arial"/>
              </a:rPr>
              <a:t>solid:</a:t>
            </a:r>
            <a:r>
              <a:rPr sz="3790" b="1" i="0">
                <a:solidFill>
                  <a:srgbClr val="52514E"/>
                </a:solidFill>
                <a:latin typeface="Arial"/>
              </a:rPr>
              <a:t> </a:t>
            </a:r>
            <a:r>
              <a:rPr sz="3790" b="1" i="0">
                <a:solidFill>
                  <a:srgbClr val="52514E"/>
                </a:solidFill>
                <a:latin typeface="Arial"/>
              </a:rPr>
              <a:t>built</a:t>
            </a:r>
            <a:r>
              <a:rPr sz="4280" b="0" i="1">
                <a:solidFill>
                  <a:srgbClr val="52514E"/>
                </a:solidFill>
                <a:latin typeface="Arial"/>
              </a:rPr>
              <a:t> </a:t>
            </a:r>
            <a:r>
              <a:rPr sz="4280" b="0" i="1">
                <a:solidFill>
                  <a:srgbClr val="52514E"/>
                </a:solidFill>
                <a:latin typeface="Arial"/>
              </a:rPr>
              <a:t>·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0775738" y="6660567"/>
            <a:ext cx="4240451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52514E"/>
                </a:solidFill>
                <a:latin typeface="Arial"/>
              </a:rPr>
              <a:t>dashed:</a:t>
            </a:r>
            <a:r>
              <a:rPr sz="3790" b="1" i="0">
                <a:solidFill>
                  <a:srgbClr val="52514E"/>
                </a:solidFill>
                <a:latin typeface="Arial"/>
              </a:rPr>
              <a:t> </a:t>
            </a:r>
            <a:r>
              <a:rPr sz="3790" b="1" i="0">
                <a:solidFill>
                  <a:srgbClr val="52514E"/>
                </a:solidFill>
                <a:latin typeface="Arial"/>
              </a:rPr>
              <a:t>proposed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0775739" y="16845585"/>
            <a:ext cx="7856999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The next falsifiable test</a:t>
            </a:r>
            <a:r>
              <a:rPr sz="3790" b="1" i="0">
                <a:solidFill>
                  <a:srgbClr val="52514E"/>
                </a:solidFill>
                <a:latin typeface="Arial"/>
              </a:rPr>
              <a:t> </a:t>
            </a:r>
            <a:r>
              <a:rPr sz="3790" b="1" i="0">
                <a:solidFill>
                  <a:srgbClr val="52514E"/>
                </a:solidFill>
                <a:latin typeface="Arial"/>
              </a:rPr>
              <a:t>RUNNING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0775739" y="17930583"/>
            <a:ext cx="8620652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58 independently selected training tasks, frozen before the run.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0775739" y="18335459"/>
            <a:ext cx="8620639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It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asks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whether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failure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information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chooses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better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revisions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0775739" y="18740347"/>
            <a:ext cx="8620642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than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equally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equipped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failure-blind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constructor.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One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new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0775739" y="19145223"/>
            <a:ext cx="8620614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arm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learns</a:t>
            </a:r>
            <a:r>
              <a:rPr sz="2460" b="0" i="1">
                <a:solidFill>
                  <a:srgbClr val="0B0B0B"/>
                </a:solidFill>
                <a:latin typeface="Arial"/>
              </a:rPr>
              <a:t> </a:t>
            </a:r>
            <a:r>
              <a:rPr sz="2460" b="0" i="1">
                <a:solidFill>
                  <a:srgbClr val="0B0B0B"/>
                </a:solidFill>
                <a:latin typeface="Arial"/>
              </a:rPr>
              <a:t>what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to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change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from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what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solver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could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only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0775739" y="19550112"/>
            <a:ext cx="8620555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memorize, and</a:t>
            </a:r>
            <a:r>
              <a:rPr sz="2460" b="0" i="1">
                <a:solidFill>
                  <a:srgbClr val="0B0B0B"/>
                </a:solidFill>
                <a:latin typeface="Arial"/>
              </a:rPr>
              <a:t> where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from the boundary with what it explains.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0775739" y="19954988"/>
            <a:ext cx="8620648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Paired sign tests, Holm-corrected; results will be reported only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0775739" y="20359864"/>
            <a:ext cx="2162168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after validation.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0775739" y="21847595"/>
            <a:ext cx="7748336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Scientific prediction</a:t>
            </a:r>
            <a:r>
              <a:rPr sz="3790" b="1" i="0">
                <a:solidFill>
                  <a:srgbClr val="D03B3B"/>
                </a:solidFill>
                <a:latin typeface="Arial"/>
              </a:rPr>
              <a:t> </a:t>
            </a:r>
            <a:r>
              <a:rPr sz="3790" b="1" i="0">
                <a:solidFill>
                  <a:srgbClr val="D03B3B"/>
                </a:solidFill>
                <a:latin typeface="Arial"/>
              </a:rPr>
              <a:t>PROPOSED,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0775739" y="22530841"/>
            <a:ext cx="3076928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D03B3B"/>
                </a:solidFill>
                <a:latin typeface="Arial"/>
              </a:rPr>
              <a:t>NOT TESTED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0775739" y="23608638"/>
            <a:ext cx="8620633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With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molecular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measurements,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should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system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revise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its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0775739" y="24013526"/>
            <a:ext cx="8620645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representation, revise its hypothesis, or ask for an experiment?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0775739" y="24418402"/>
            <a:ext cx="8620645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What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could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transfer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is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revision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policy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and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verification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0775739" y="24823291"/>
            <a:ext cx="8620639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interface,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not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ARC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operators.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biological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check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needs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toler-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0775739" y="25228167"/>
            <a:ext cx="8620639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ance, real replicates, held-out conditions and experiments, not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0775739" y="25633043"/>
            <a:ext cx="8620645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exact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match.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problem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contract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(questions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for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Pierce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and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0775739" y="26037930"/>
            <a:ext cx="6666476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Toni) is in review; no biological result is claimed.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0775739" y="27581262"/>
            <a:ext cx="4500559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Benchmark context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0775739" y="28666259"/>
            <a:ext cx="8620751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Official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ARC-AGI-2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public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scores: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native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CORA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</a:t>
            </a:r>
            <a:r>
              <a:rPr sz="2460" b="1" i="0">
                <a:solidFill>
                  <a:srgbClr val="0B0B0B"/>
                </a:solidFill>
                <a:latin typeface="Arial"/>
              </a:rPr>
              <a:t>0.00</a:t>
            </a:r>
            <a:r>
              <a:rPr sz="2460" b="0" i="0">
                <a:solidFill>
                  <a:srgbClr val="0B0B0B"/>
                </a:solidFill>
                <a:latin typeface="Arial"/>
              </a:rPr>
              <a:t>;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re-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0775739" y="29071137"/>
            <a:ext cx="8620667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production of the published NVARC Qwen3-4B pipeline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27.64</a:t>
            </a:r>
            <a:r>
              <a:rPr sz="2460" b="0" i="0">
                <a:solidFill>
                  <a:srgbClr val="0B0B0B"/>
                </a:solidFill>
                <a:latin typeface="Arial"/>
              </a:rPr>
              <a:t>,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0775738" y="29476027"/>
            <a:ext cx="8620659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which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is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</a:t>
            </a:r>
            <a:r>
              <a:rPr sz="2460" b="1" i="0">
                <a:solidFill>
                  <a:srgbClr val="0B0B0B"/>
                </a:solidFill>
                <a:latin typeface="Arial"/>
              </a:rPr>
              <a:t>not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</a:t>
            </a:r>
            <a:r>
              <a:rPr sz="2460" b="1" i="0">
                <a:solidFill>
                  <a:srgbClr val="0B0B0B"/>
                </a:solidFill>
                <a:latin typeface="Arial"/>
              </a:rPr>
              <a:t>CORA</a:t>
            </a:r>
            <a:r>
              <a:rPr sz="2460" b="0" i="0">
                <a:solidFill>
                  <a:srgbClr val="0B0B0B"/>
                </a:solidFill>
                <a:latin typeface="Arial"/>
              </a:rPr>
              <a:t>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CORA-FHR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research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entry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(18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Oc-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0775738" y="29880901"/>
            <a:ext cx="8620759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tober)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scored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</a:t>
            </a:r>
            <a:r>
              <a:rPr sz="2460" b="1" i="0">
                <a:solidFill>
                  <a:srgbClr val="0B0B0B"/>
                </a:solidFill>
                <a:latin typeface="Arial"/>
              </a:rPr>
              <a:t>0.00</a:t>
            </a:r>
            <a:r>
              <a:rPr sz="2460" b="0" i="0">
                <a:solidFill>
                  <a:srgbClr val="0B0B0B"/>
                </a:solidFill>
                <a:latin typeface="Arial"/>
              </a:rPr>
              <a:t>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its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local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rehearsal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predicted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(no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new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0775739" y="30285788"/>
            <a:ext cx="8620648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answer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committed).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guarded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rule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came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later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and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is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not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0775739" y="30690666"/>
            <a:ext cx="1279306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part of it.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0775739" y="32240587"/>
            <a:ext cx="6855984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The question I want to pursue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0775739" y="33417442"/>
            <a:ext cx="8620714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Can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a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reasoning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system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learn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from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boundary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be-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0775739" y="33885590"/>
            <a:ext cx="8620711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tween what its current knowledge explains and what it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0775739" y="34353738"/>
            <a:ext cx="8620711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cannot, decide what must change, and acquire a capa-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0775739" y="34821886"/>
            <a:ext cx="8620711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bility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that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generalizes?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ARC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offers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a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controlled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place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0775739" y="35290035"/>
            <a:ext cx="5987643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to find out before testing it in science.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0775739" y="35813844"/>
            <a:ext cx="4651232" cy="264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0" i="0">
                <a:solidFill>
                  <a:srgbClr val="0B0B0B"/>
                </a:solidFill>
                <a:latin typeface="Arial"/>
              </a:rPr>
              <a:t>Every number, with its scope and hash: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0775739" y="36154835"/>
            <a:ext cx="8281215" cy="278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90" b="0" i="0">
                <a:solidFill>
                  <a:srgbClr val="0B0B0B"/>
                </a:solidFill>
                <a:latin typeface="Courier New"/>
              </a:rPr>
              <a:t>records/CORA_SUMMIT_CLAIM_LEDGER_20261017.md</a:t>
            </a:r>
            <a:r>
              <a:rPr sz="2080" b="0" i="0">
                <a:solidFill>
                  <a:srgbClr val="0B0B0B"/>
                </a:solidFill>
                <a:latin typeface="Arial"/>
              </a:rPr>
              <a:t>.</a:t>
            </a:r>
            <a:r>
              <a:rPr sz="2080" b="0" i="0">
                <a:solidFill>
                  <a:srgbClr val="0B0B0B"/>
                </a:solidFill>
                <a:latin typeface="Arial"/>
              </a:rPr>
              <a:t> </a:t>
            </a:r>
            <a:r>
              <a:rPr sz="2080" b="0" i="0">
                <a:solidFill>
                  <a:srgbClr val="0B0B0B"/>
                </a:solidFill>
                <a:latin typeface="Arial"/>
              </a:rPr>
              <a:t>Authorship and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0775739" y="36497077"/>
            <a:ext cx="4633788" cy="264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0" i="0">
                <a:solidFill>
                  <a:srgbClr val="0B0B0B"/>
                </a:solidFill>
                <a:latin typeface="Arial"/>
              </a:rPr>
              <a:t>credits are pending collaborator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Search Is Not Enough (CORA, ARC Prize Research Summit 2026)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