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000" cy="428040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5141" y="11535102"/>
            <a:ext cx="8459044" cy="795182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9040" y="12307563"/>
            <a:ext cx="203200" cy="2929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9040" y="13456476"/>
            <a:ext cx="203200" cy="2929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37090" y="12307563"/>
            <a:ext cx="203200" cy="29291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37090" y="13456476"/>
            <a:ext cx="203200" cy="29291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090" y="14757813"/>
            <a:ext cx="203200" cy="29291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09040" y="14605390"/>
            <a:ext cx="203200" cy="170225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37090" y="15906726"/>
            <a:ext cx="203200" cy="40091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39385" y="17111191"/>
            <a:ext cx="500267" cy="203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13185" y="32634166"/>
            <a:ext cx="8423045" cy="104944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89409" y="33057287"/>
            <a:ext cx="248270" cy="203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41449" y="33057287"/>
            <a:ext cx="248270" cy="203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851" y="38880160"/>
            <a:ext cx="3526990" cy="72315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544" y="38882035"/>
            <a:ext cx="4679004" cy="719401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3938" y="467733"/>
            <a:ext cx="29368136" cy="3364985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3287" y="8712219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3287" y="22469824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75281" y="8611252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75281" y="11108976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75281" y="15969502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75281" y="30428683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377274" y="8712219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377274" y="24551189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377274" y="32072936"/>
            <a:ext cx="9295048" cy="71999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_arc_intro_00dbd492_lar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003" y="9586118"/>
            <a:ext cx="8570548" cy="10661707"/>
          </a:xfrm>
          <a:prstGeom prst="rect">
            <a:avLst/>
          </a:prstGeom>
        </p:spPr>
      </p:pic>
      <p:pic>
        <p:nvPicPr>
          <p:cNvPr id="27" name="Picture 26" descr="fig_three_failures_ILLUSTRATIV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003" y="23116289"/>
            <a:ext cx="8570548" cy="13361452"/>
          </a:xfrm>
          <a:prstGeom prst="rect">
            <a:avLst/>
          </a:prstGeom>
        </p:spPr>
      </p:pic>
      <p:pic>
        <p:nvPicPr>
          <p:cNvPr id="28" name="Picture 27" descr="fig_real_rule_ka95aa62f67d9_lar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37862" y="16616064"/>
            <a:ext cx="8570549" cy="8511061"/>
          </a:xfrm>
          <a:prstGeom prst="rect">
            <a:avLst/>
          </a:prstGeom>
        </p:spPr>
      </p:pic>
      <p:pic>
        <p:nvPicPr>
          <p:cNvPr id="29" name="Picture 28" descr="fig_construction_58_outcome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37862" y="32733074"/>
            <a:ext cx="8570549" cy="2516711"/>
          </a:xfrm>
          <a:prstGeom prst="rect">
            <a:avLst/>
          </a:prstGeom>
        </p:spPr>
      </p:pic>
      <p:pic>
        <p:nvPicPr>
          <p:cNvPr id="30" name="Picture 29" descr="fig_v2_uncertified_00dbd492_lar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739748" y="25530452"/>
            <a:ext cx="8570549" cy="425553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35293" y="924641"/>
            <a:ext cx="17656331" cy="1201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460" b="1" i="0">
                <a:solidFill>
                  <a:srgbClr val="0B0B0B"/>
                </a:solidFill>
                <a:latin typeface="Arial"/>
              </a:rPr>
              <a:t>LEARNING WHAT TO 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1402" y="2212018"/>
            <a:ext cx="15704172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From Visual Reasoning to Scientific Hypothesis Revision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2333" y="2877692"/>
            <a:ext cx="9162612" cy="459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52514E"/>
                </a:solidFill>
                <a:latin typeface="Arial"/>
              </a:rPr>
              <a:t>Chimdi Walter Ndubuisi</a:t>
            </a:r>
            <a:r>
              <a:rPr sz="3570" b="0" i="1">
                <a:solidFill>
                  <a:srgbClr val="52514E"/>
                </a:solidFill>
                <a:latin typeface="Arial"/>
              </a:rPr>
              <a:t> </a:t>
            </a:r>
            <a:r>
              <a:rPr sz="3570" b="0" i="1">
                <a:solidFill>
                  <a:srgbClr val="52514E"/>
                </a:solidFill>
                <a:latin typeface="Arial"/>
              </a:rPr>
              <a:t>·</a:t>
            </a:r>
            <a:r>
              <a:rPr sz="3410" b="0" i="0">
                <a:solidFill>
                  <a:srgbClr val="52514E"/>
                </a:solidFill>
                <a:latin typeface="Arial"/>
              </a:rPr>
              <a:t> </a:t>
            </a:r>
            <a:r>
              <a:rPr sz="3410" b="0" i="0">
                <a:solidFill>
                  <a:srgbClr val="52514E"/>
                </a:solidFill>
                <a:latin typeface="Arial"/>
              </a:rPr>
              <a:t>University of Missouri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57157" y="2904793"/>
            <a:ext cx="12477532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D03B3B"/>
                </a:solidFill>
                <a:latin typeface="Arial"/>
              </a:rPr>
              <a:t>REVIEW DRAFT 19 October:</a:t>
            </a:r>
            <a:r>
              <a:rPr sz="3410" b="0" i="0">
                <a:solidFill>
                  <a:srgbClr val="D03B3B"/>
                </a:solidFill>
                <a:latin typeface="Arial"/>
              </a:rPr>
              <a:t> </a:t>
            </a:r>
            <a:r>
              <a:rPr sz="3410" b="0" i="0">
                <a:solidFill>
                  <a:srgbClr val="D03B3B"/>
                </a:solidFill>
                <a:latin typeface="Arial"/>
              </a:rPr>
              <a:t>for collaborator review, not for 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5293" y="924641"/>
            <a:ext cx="17656331" cy="1201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460" b="1" i="0">
                <a:solidFill>
                  <a:srgbClr val="0B0B0B"/>
                </a:solidFill>
                <a:latin typeface="Arial"/>
              </a:rPr>
              <a:t>LEARNING WHAT TO 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1402" y="2212018"/>
            <a:ext cx="15704172" cy="6250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920" b="0" i="0">
                <a:solidFill>
                  <a:srgbClr val="0B0B0B"/>
                </a:solidFill>
                <a:latin typeface="Arial"/>
              </a:rPr>
              <a:t>From Visual Reasoning to Scientific Hypothesis Revision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2333" y="2877692"/>
            <a:ext cx="9162612" cy="4598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52514E"/>
                </a:solidFill>
                <a:latin typeface="Arial"/>
              </a:rPr>
              <a:t>Chimdi Walter Ndubuisi</a:t>
            </a:r>
            <a:r>
              <a:rPr sz="3570" b="0" i="1">
                <a:solidFill>
                  <a:srgbClr val="52514E"/>
                </a:solidFill>
                <a:latin typeface="Arial"/>
              </a:rPr>
              <a:t> </a:t>
            </a:r>
            <a:r>
              <a:rPr sz="3570" b="0" i="1">
                <a:solidFill>
                  <a:srgbClr val="52514E"/>
                </a:solidFill>
                <a:latin typeface="Arial"/>
              </a:rPr>
              <a:t>·</a:t>
            </a:r>
            <a:r>
              <a:rPr sz="3410" b="0" i="0">
                <a:solidFill>
                  <a:srgbClr val="52514E"/>
                </a:solidFill>
                <a:latin typeface="Arial"/>
              </a:rPr>
              <a:t> </a:t>
            </a:r>
            <a:r>
              <a:rPr sz="3410" b="0" i="0">
                <a:solidFill>
                  <a:srgbClr val="52514E"/>
                </a:solidFill>
                <a:latin typeface="Arial"/>
              </a:rPr>
              <a:t>University of Missouri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57157" y="2904793"/>
            <a:ext cx="12477532" cy="4327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10" b="0" i="0">
                <a:solidFill>
                  <a:srgbClr val="D03B3B"/>
                </a:solidFill>
                <a:latin typeface="Arial"/>
              </a:rPr>
              <a:t>REVIEW DRAFT 19 October:</a:t>
            </a:r>
            <a:r>
              <a:rPr sz="3410" b="0" i="0">
                <a:solidFill>
                  <a:srgbClr val="D03B3B"/>
                </a:solidFill>
                <a:latin typeface="Arial"/>
              </a:rPr>
              <a:t> </a:t>
            </a:r>
            <a:r>
              <a:rPr sz="3410" b="0" i="0">
                <a:solidFill>
                  <a:srgbClr val="D03B3B"/>
                </a:solidFill>
                <a:latin typeface="Arial"/>
              </a:rPr>
              <a:t>for collaborator review, not for print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6777" y="4813474"/>
            <a:ext cx="20433493" cy="69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90" b="1" i="0">
                <a:solidFill>
                  <a:srgbClr val="0B0B0B"/>
                </a:solidFill>
                <a:latin typeface="Arial"/>
              </a:rPr>
              <a:t>Can a reasoner recognize when its explanation is inadequate,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4072" y="5743573"/>
            <a:ext cx="12718788" cy="6971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90" b="1" i="0">
                <a:solidFill>
                  <a:srgbClr val="0B0B0B"/>
                </a:solidFill>
                <a:latin typeface="Arial"/>
              </a:rPr>
              <a:t>and determine what needs to change?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7359" y="6595817"/>
            <a:ext cx="1549224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52514E"/>
                </a:solidFill>
                <a:latin typeface="Arial"/>
              </a:rPr>
              <a:t>Find what is missing, choose a revision, test it.</a:t>
            </a:r>
            <a:r>
              <a:rPr sz="2840" b="0" i="0">
                <a:solidFill>
                  <a:srgbClr val="52514E"/>
                </a:solidFill>
                <a:latin typeface="Arial"/>
              </a:rPr>
              <a:t> </a:t>
            </a:r>
            <a:r>
              <a:rPr sz="2840" b="0" i="0">
                <a:solidFill>
                  <a:srgbClr val="52514E"/>
                </a:solidFill>
                <a:latin typeface="Arial"/>
              </a:rPr>
              <a:t>A question shaped in discussions with Toni Kazic.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003" y="7846626"/>
            <a:ext cx="5536049" cy="544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1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Why reasoning fails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003" y="9093516"/>
            <a:ext cx="817215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One rule must fit both examples and the new input.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003" y="20412149"/>
            <a:ext cx="6817095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Rule: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each frame’s fill colour depends on its size.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003" y="21674073"/>
            <a:ext cx="724878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Three ways an explanation fails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003" y="36807508"/>
            <a:ext cx="6949008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Telling these apart is the research problem.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37862" y="7846626"/>
            <a:ext cx="8002530" cy="544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2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What CORA has demonstrated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37862" y="8992548"/>
            <a:ext cx="5218501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CORA writes rules as programs.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7862" y="10305923"/>
            <a:ext cx="5968431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Fitting is not enough</a:t>
            </a:r>
            <a:r>
              <a:rPr sz="2460" b="1" i="0">
                <a:solidFill>
                  <a:srgbClr val="0CA30C"/>
                </a:solidFill>
                <a:latin typeface="Arial"/>
              </a:rPr>
              <a:t> [DONE]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21070" y="11534914"/>
            <a:ext cx="852767" cy="1442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0CA30C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40286" y="12901293"/>
            <a:ext cx="1614344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CA30C"/>
                </a:solidFill>
                <a:latin typeface="Arial"/>
              </a:rPr>
              <a:t>accepted,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930672" y="13382088"/>
            <a:ext cx="1633456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CA30C"/>
                </a:solidFill>
                <a:latin typeface="Arial"/>
              </a:rPr>
              <a:t>all</a:t>
            </a:r>
            <a:r>
              <a:rPr sz="2840" b="0" i="0">
                <a:solidFill>
                  <a:srgbClr val="0CA30C"/>
                </a:solidFill>
                <a:latin typeface="Arial"/>
              </a:rPr>
              <a:t> </a:t>
            </a:r>
            <a:r>
              <a:rPr sz="2840" b="0" i="0">
                <a:solidFill>
                  <a:srgbClr val="0CA30C"/>
                </a:solidFill>
                <a:latin typeface="Arial"/>
              </a:rPr>
              <a:t>correct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952088" y="11534914"/>
            <a:ext cx="1654733" cy="14423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D03B3B"/>
                </a:solidFill>
                <a:latin typeface="Arial"/>
              </a:rPr>
              <a:t>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756647" y="12901293"/>
            <a:ext cx="2045613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D03B3B"/>
                </a:solidFill>
                <a:latin typeface="Arial"/>
              </a:rPr>
              <a:t>tasks: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every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14229" y="13382088"/>
            <a:ext cx="2530617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D03B3B"/>
                </a:solidFill>
                <a:latin typeface="Arial"/>
              </a:rPr>
              <a:t>fitted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rule</a:t>
            </a:r>
            <a:r>
              <a:rPr sz="2840" b="0" i="0">
                <a:solidFill>
                  <a:srgbClr val="D03B3B"/>
                </a:solidFill>
                <a:latin typeface="Arial"/>
              </a:rPr>
              <a:t> </a:t>
            </a:r>
            <a:r>
              <a:rPr sz="2840" b="0" i="0">
                <a:solidFill>
                  <a:srgbClr val="D03B3B"/>
                </a:solidFill>
                <a:latin typeface="Arial"/>
              </a:rPr>
              <a:t>failed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37861" y="13948308"/>
            <a:ext cx="3664119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60 exposed training tasks.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37862" y="15213978"/>
            <a:ext cx="6857131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A rule CORA built</a:t>
            </a:r>
            <a:r>
              <a:rPr sz="2460" b="1" i="0">
                <a:solidFill>
                  <a:srgbClr val="0CA30C"/>
                </a:solidFill>
                <a:latin typeface="Arial"/>
              </a:rPr>
              <a:t> [DONE, NARROW]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37862" y="25456894"/>
            <a:ext cx="7741504" cy="3608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Rule:</a:t>
            </a:r>
            <a:r>
              <a:rPr sz="2840" b="1" i="0">
                <a:solidFill>
                  <a:srgbClr val="0074D9"/>
                </a:solidFill>
                <a:latin typeface="Arial"/>
              </a:rPr>
              <a:t> </a:t>
            </a:r>
            <a:r>
              <a:rPr sz="2840" b="1" i="0">
                <a:solidFill>
                  <a:srgbClr val="0074D9"/>
                </a:solidFill>
                <a:latin typeface="Arial"/>
              </a:rPr>
              <a:t>blue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objects send a line up-left;</a:t>
            </a:r>
            <a:r>
              <a:rPr sz="2840" b="1" i="0">
                <a:solidFill>
                  <a:srgbClr val="FF4136"/>
                </a:solidFill>
                <a:latin typeface="Arial"/>
              </a:rPr>
              <a:t> red</a:t>
            </a:r>
            <a:r>
              <a:rPr sz="2840" b="0" i="0">
                <a:solidFill>
                  <a:srgbClr val="0B0B0B"/>
                </a:solidFill>
                <a:latin typeface="Arial"/>
              </a:rPr>
              <a:t> ones,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37861" y="25937691"/>
            <a:ext cx="1834310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down-right.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41722" y="26417376"/>
            <a:ext cx="3507419" cy="400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90" b="0" i="0">
                <a:solidFill>
                  <a:srgbClr val="0CA30C"/>
                </a:solidFill>
                <a:latin typeface="Arial"/>
              </a:rPr>
              <a:t>✓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constructed by CORA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41722" y="26858317"/>
            <a:ext cx="3109586" cy="400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90" b="0" i="0">
                <a:solidFill>
                  <a:srgbClr val="0CA30C"/>
                </a:solidFill>
                <a:latin typeface="Arial"/>
              </a:rPr>
              <a:t>✓</a:t>
            </a:r>
            <a:r>
              <a:rPr sz="2460" b="0" i="0">
                <a:solidFill>
                  <a:srgbClr val="0B0B0B"/>
                </a:solidFill>
                <a:latin typeface="Arial"/>
              </a:rPr>
              <a:t>correct on this task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41722" y="27299263"/>
            <a:ext cx="6007875" cy="4009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590" b="0" i="0">
                <a:solidFill>
                  <a:srgbClr val="0CA30C"/>
                </a:solidFill>
                <a:latin typeface="Arial"/>
              </a:rPr>
              <a:t>✓</a:t>
            </a:r>
            <a:r>
              <a:rPr sz="2460" b="0" i="0">
                <a:solidFill>
                  <a:srgbClr val="0B0B0B"/>
                </a:solidFill>
                <a:latin typeface="Arial"/>
              </a:rPr>
              <a:t>rebuilt 3 of 3 times, one example hidden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33352" y="27828617"/>
            <a:ext cx="5327148" cy="3127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52514E"/>
                </a:solidFill>
                <a:latin typeface="Arial"/>
              </a:rPr>
              <a:t>=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also found without the failure record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37860" y="28359965"/>
            <a:ext cx="721275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1" i="0">
                <a:solidFill>
                  <a:srgbClr val="52514E"/>
                </a:solidFill>
                <a:latin typeface="Arial"/>
              </a:rPr>
              <a:t>An exposed training task, not a Kaggle success.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37862" y="29625376"/>
            <a:ext cx="587103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Did it generalize?</a:t>
            </a:r>
            <a:r>
              <a:rPr sz="2460" b="1" i="0">
                <a:solidFill>
                  <a:srgbClr val="D03B3B"/>
                </a:solidFill>
                <a:latin typeface="Arial"/>
              </a:rPr>
              <a:t> [NEGATIVE]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318413" y="30765198"/>
            <a:ext cx="3659649" cy="14423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60" b="1" i="0">
                <a:solidFill>
                  <a:srgbClr val="D03B3B"/>
                </a:solidFill>
                <a:latin typeface="Arial"/>
              </a:rPr>
              <a:t>0 / 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404760" y="32113559"/>
            <a:ext cx="3486917" cy="3605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new verified solutions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37862" y="35540639"/>
            <a:ext cx="5772052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Every variant found 0; no wrong answers.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739735" y="7846626"/>
            <a:ext cx="7800116" cy="544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3</a:t>
            </a:r>
            <a:r>
              <a:rPr sz="4280" b="0" i="1">
                <a:solidFill>
                  <a:srgbClr val="2A78D6"/>
                </a:solidFill>
                <a:latin typeface="Arial"/>
              </a:rPr>
              <a:t> </a:t>
            </a:r>
            <a:r>
              <a:rPr sz="4280" b="0" i="1">
                <a:solidFill>
                  <a:srgbClr val="2A78D6"/>
                </a:solidFill>
                <a:latin typeface="Arial"/>
              </a:rPr>
              <a:t>·</a:t>
            </a:r>
            <a:r>
              <a:rPr sz="3790" b="1" i="0">
                <a:solidFill>
                  <a:srgbClr val="2A78D6"/>
                </a:solidFill>
                <a:latin typeface="Arial"/>
              </a:rPr>
              <a:t> </a:t>
            </a:r>
            <a:r>
              <a:rPr sz="3790" b="1" i="0">
                <a:solidFill>
                  <a:srgbClr val="2A78D6"/>
                </a:solidFill>
                <a:latin typeface="Arial"/>
              </a:rPr>
              <a:t>How neural learning may help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13571" y="9468674"/>
            <a:ext cx="3045034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1" i="0">
                <a:solidFill>
                  <a:srgbClr val="52514E"/>
                </a:solidFill>
                <a:latin typeface="Arial"/>
              </a:rPr>
              <a:t>existing neural baseline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535839" y="9468674"/>
            <a:ext cx="3456492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1" i="0">
                <a:solidFill>
                  <a:srgbClr val="52514E"/>
                </a:solidFill>
                <a:latin typeface="Arial"/>
              </a:rPr>
              <a:t>existing symbolic reasoner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873210" y="10014594"/>
            <a:ext cx="1925730" cy="5529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350" b="1" i="0">
                <a:solidFill>
                  <a:srgbClr val="0B0B0B"/>
                </a:solidFill>
                <a:latin typeface="Arial"/>
              </a:rPr>
              <a:t>27.64%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454912" y="10014594"/>
            <a:ext cx="1618313" cy="5529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350" b="1" i="0">
                <a:solidFill>
                  <a:srgbClr val="0B0B0B"/>
                </a:solidFill>
                <a:latin typeface="Arial"/>
              </a:rPr>
              <a:t>0.00%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105163" y="10694933"/>
            <a:ext cx="1461847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reproduced;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208160" y="11036549"/>
            <a:ext cx="1255845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not CORA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810552" y="10694933"/>
            <a:ext cx="907048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original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856692" y="11036549"/>
            <a:ext cx="814762" cy="2644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CORA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739735" y="19731713"/>
            <a:ext cx="7759250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Can neural learning help a reasoner discover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739735" y="20212510"/>
            <a:ext cx="7344931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useful representations and rules—and can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739735" y="20693307"/>
            <a:ext cx="8274186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executable verification help it determine what to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739735" y="21174104"/>
            <a:ext cx="8561939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1" i="0">
                <a:solidFill>
                  <a:srgbClr val="0B0B0B"/>
                </a:solidFill>
                <a:latin typeface="Arial"/>
              </a:rPr>
              <a:t>change when those explanations are inadequate?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739735" y="21723869"/>
            <a:ext cx="7604342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Solid: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existing.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Dashed: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proposed; the neural proposal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739735" y="22128757"/>
            <a:ext cx="7968422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interface has not yet been implemented or experimentally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739735" y="22533633"/>
            <a:ext cx="4524486" cy="312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validated.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Scores: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official public.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739748" y="23795558"/>
            <a:ext cx="4800096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CORA-v2</a:t>
            </a:r>
            <a:r>
              <a:rPr sz="2460" b="1" i="0">
                <a:solidFill>
                  <a:srgbClr val="EB6834"/>
                </a:solidFill>
                <a:latin typeface="Arial"/>
              </a:rPr>
              <a:t> [DEVELOPMENT]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739748" y="24932268"/>
            <a:ext cx="6639600" cy="3605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40" b="0" i="0">
                <a:solidFill>
                  <a:srgbClr val="0B0B0B"/>
                </a:solidFill>
                <a:latin typeface="Arial"/>
              </a:rPr>
              <a:t>Keeps all fitting rules; flags thin evidence.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739748" y="30051539"/>
            <a:ext cx="8069988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52514E"/>
                </a:solidFill>
                <a:latin typeface="Arial"/>
              </a:rPr>
              <a:t>118 exposed tasks:</a:t>
            </a:r>
            <a:r>
              <a:rPr sz="2460" b="0" i="0">
                <a:solidFill>
                  <a:srgbClr val="52514E"/>
                </a:solidFill>
                <a:latin typeface="Arial"/>
              </a:rPr>
              <a:t> </a:t>
            </a:r>
            <a:r>
              <a:rPr sz="2460" b="0" i="0">
                <a:solidFill>
                  <a:srgbClr val="52514E"/>
                </a:solidFill>
                <a:latin typeface="Arial"/>
              </a:rPr>
              <a:t>4 right, 1 wrong guess; none certified.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39748" y="31317207"/>
            <a:ext cx="8571622" cy="4807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790" b="1" i="0">
                <a:solidFill>
                  <a:srgbClr val="2A78D6"/>
                </a:solidFill>
                <a:latin typeface="Arial"/>
              </a:rPr>
              <a:t>From ARC to science</a:t>
            </a:r>
            <a:r>
              <a:rPr sz="2460" b="1" i="0">
                <a:solidFill>
                  <a:srgbClr val="D03B3B"/>
                </a:solidFill>
                <a:latin typeface="Arial"/>
              </a:rPr>
              <a:t> [FUTURE, NOT TESTED]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739735" y="33889301"/>
            <a:ext cx="8059985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Proteins, omics, plant phenotypes:</a:t>
            </a:r>
            <a:r>
              <a:rPr sz="2460" b="0" i="0">
                <a:solidFill>
                  <a:srgbClr val="0B0B0B"/>
                </a:solidFill>
                <a:latin typeface="Arial"/>
              </a:rPr>
              <a:t> </a:t>
            </a:r>
            <a:r>
              <a:rPr sz="2460" b="0" i="0">
                <a:solidFill>
                  <a:srgbClr val="0B0B0B"/>
                </a:solidFill>
                <a:latin typeface="Arial"/>
              </a:rPr>
              <a:t>only the revision policy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739735" y="34294188"/>
            <a:ext cx="2002784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B0B0B"/>
                </a:solidFill>
                <a:latin typeface="Arial"/>
              </a:rPr>
              <a:t>could transfer.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8151" y="38236717"/>
            <a:ext cx="26321277" cy="5769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540" b="1" i="0">
                <a:solidFill>
                  <a:srgbClr val="0B0B0B"/>
                </a:solidFill>
                <a:latin typeface="Arial"/>
              </a:rPr>
              <a:t>Building a rule is not learning which revision improves an unseen prediction.</a:t>
            </a:r>
            <a:r>
              <a:rPr sz="4540" b="1" i="0">
                <a:solidFill>
                  <a:srgbClr val="0B0B0B"/>
                </a:solidFill>
                <a:latin typeface="Arial"/>
              </a:rPr>
              <a:t> </a:t>
            </a:r>
            <a:r>
              <a:rPr sz="4540" b="1" i="0">
                <a:solidFill>
                  <a:srgbClr val="0B0B0B"/>
                </a:solidFill>
                <a:latin typeface="Arial"/>
              </a:rPr>
              <a:t>That is what we test.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71444" y="38883031"/>
            <a:ext cx="5553286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0CA30C"/>
                </a:solidFill>
                <a:latin typeface="Arial"/>
              </a:rPr>
              <a:t>[DONE]</a:t>
            </a:r>
            <a:r>
              <a:rPr sz="2460" b="0" i="0">
                <a:solidFill>
                  <a:srgbClr val="D03B3B"/>
                </a:solidFill>
                <a:latin typeface="Arial"/>
              </a:rPr>
              <a:t> [NEGATIVE]</a:t>
            </a:r>
            <a:r>
              <a:rPr sz="2460" b="0" i="0">
                <a:solidFill>
                  <a:srgbClr val="EB6834"/>
                </a:solidFill>
                <a:latin typeface="Arial"/>
              </a:rPr>
              <a:t> [DEVELOPMENT]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571444" y="39287905"/>
            <a:ext cx="3632551" cy="312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60" b="0" i="0">
                <a:solidFill>
                  <a:srgbClr val="D03B3B"/>
                </a:solidFill>
                <a:latin typeface="Arial"/>
              </a:rPr>
              <a:t>[FUTURE, NOT TESTED]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6003" y="39950147"/>
            <a:ext cx="28454794" cy="2826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Prior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work: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Popper,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DreamCoder,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LILO,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Model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Discovery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Agent;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failing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and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revising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is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not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new.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Neural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baseline: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NVARC’s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published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method,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reproduced.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Numbers:</a:t>
            </a:r>
            <a:r>
              <a:rPr sz="2190" b="0" i="0">
                <a:solidFill>
                  <a:srgbClr val="52514E"/>
                </a:solidFill>
                <a:latin typeface="Courier New"/>
              </a:rPr>
              <a:t> </a:t>
            </a:r>
            <a:r>
              <a:rPr sz="2190" b="0" i="0">
                <a:solidFill>
                  <a:srgbClr val="52514E"/>
                </a:solidFill>
                <a:latin typeface="Courier New"/>
              </a:rPr>
              <a:t>records/CORA_SUMMIT_CLAIM_LEDGER_20261017.md</a:t>
            </a:r>
            <a:r>
              <a:rPr sz="2070" b="0" i="1">
                <a:solidFill>
                  <a:srgbClr val="52514E"/>
                </a:solidFill>
                <a:latin typeface="Arial"/>
              </a:rPr>
              <a:t> ·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AI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coding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</a:t>
            </a:r>
            <a:r>
              <a:rPr sz="2080" b="0" i="0">
                <a:solidFill>
                  <a:srgbClr val="52514E"/>
                </a:solidFill>
                <a:latin typeface="Arial"/>
              </a:rPr>
              <a:t>assistance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6004" y="40291763"/>
            <a:ext cx="3974950" cy="26937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80" b="0" i="0">
                <a:solidFill>
                  <a:srgbClr val="52514E"/>
                </a:solidFill>
                <a:latin typeface="Arial"/>
              </a:rPr>
              <a:t>used</a:t>
            </a:r>
            <a:r>
              <a:rPr sz="2070" b="0" i="1">
                <a:solidFill>
                  <a:srgbClr val="52514E"/>
                </a:solidFill>
                <a:latin typeface="Arial"/>
              </a:rPr>
              <a:t> ·</a:t>
            </a:r>
            <a:r>
              <a:rPr sz="2080" b="0" i="0">
                <a:solidFill>
                  <a:srgbClr val="52514E"/>
                </a:solidFill>
                <a:latin typeface="Arial"/>
              </a:rPr>
              <a:t> authorship pending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What to Change (CORA, ARC Prize Research Summit 2026), visual review draft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