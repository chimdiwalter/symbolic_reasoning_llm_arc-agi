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7048" y="13024939"/>
            <a:ext cx="8459046" cy="810424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0947" y="13847643"/>
            <a:ext cx="203200" cy="29291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30947" y="14996555"/>
            <a:ext cx="203200" cy="29291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58996" y="13797399"/>
            <a:ext cx="203200" cy="29291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58996" y="14946314"/>
            <a:ext cx="203200" cy="29291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58996" y="16247650"/>
            <a:ext cx="203200" cy="29291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730947" y="16145470"/>
            <a:ext cx="203200" cy="180443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58996" y="17548987"/>
            <a:ext cx="203200" cy="40091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61293" y="18753452"/>
            <a:ext cx="500267" cy="2032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813185" y="34268891"/>
            <a:ext cx="8423045" cy="1833909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89409" y="35084246"/>
            <a:ext cx="248270" cy="203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241449" y="35084246"/>
            <a:ext cx="248270" cy="203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08463" y="39765048"/>
            <a:ext cx="3526990" cy="723152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653156" y="39766924"/>
            <a:ext cx="4679004" cy="71940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3938" y="467733"/>
            <a:ext cx="29368136" cy="3364985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3287" y="1020207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3287" y="2389137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75281" y="1010110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475281" y="1259882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475281" y="1827909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75281" y="3197932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377274" y="1020207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377274" y="2619721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377274" y="3370768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ig_arc_intro_00dbd492_lar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003" y="11556755"/>
            <a:ext cx="8570548" cy="10112606"/>
          </a:xfrm>
          <a:prstGeom prst="rect">
            <a:avLst/>
          </a:prstGeom>
        </p:spPr>
      </p:pic>
      <p:pic>
        <p:nvPicPr>
          <p:cNvPr id="27" name="Picture 26" descr="fig_three_failures_ILLUSTRATIV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6003" y="24537829"/>
            <a:ext cx="8570548" cy="12354768"/>
          </a:xfrm>
          <a:prstGeom prst="rect">
            <a:avLst/>
          </a:prstGeom>
        </p:spPr>
      </p:pic>
      <p:pic>
        <p:nvPicPr>
          <p:cNvPr id="28" name="Picture 27" descr="fig_real_rule_ka95aa62f67d9_lar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37862" y="18925641"/>
            <a:ext cx="8570549" cy="7412862"/>
          </a:xfrm>
          <a:prstGeom prst="rect">
            <a:avLst/>
          </a:prstGeom>
        </p:spPr>
      </p:pic>
      <p:pic>
        <p:nvPicPr>
          <p:cNvPr id="29" name="Picture 28" descr="fig_construction_58_outcomes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37862" y="34283696"/>
            <a:ext cx="8570549" cy="2516711"/>
          </a:xfrm>
          <a:prstGeom prst="rect">
            <a:avLst/>
          </a:prstGeom>
        </p:spPr>
      </p:pic>
      <p:pic>
        <p:nvPicPr>
          <p:cNvPr id="30" name="Picture 29" descr="fig_v2_uncertified_00dbd492_post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739735" y="27172130"/>
            <a:ext cx="8570549" cy="384370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35293" y="924641"/>
            <a:ext cx="17656331" cy="1201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460" b="1" i="0">
                <a:solidFill>
                  <a:srgbClr val="0B0B0B"/>
                </a:solidFill>
                <a:latin typeface="Arial"/>
              </a:rPr>
              <a:t>LEARNING WHAT TO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1402" y="2212018"/>
            <a:ext cx="15704172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From Visual Reasoning to Scientific Hypothesis Revision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92333" y="2877692"/>
            <a:ext cx="9162612" cy="45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52514E"/>
                </a:solidFill>
                <a:latin typeface="Arial"/>
              </a:rPr>
              <a:t>Chimdi Walter Ndubuisi</a:t>
            </a:r>
            <a:r>
              <a:rPr sz="3570" b="0" i="1">
                <a:solidFill>
                  <a:srgbClr val="52514E"/>
                </a:solidFill>
                <a:latin typeface="Arial"/>
              </a:rPr>
              <a:t> </a:t>
            </a:r>
            <a:r>
              <a:rPr sz="3570" b="0" i="1">
                <a:solidFill>
                  <a:srgbClr val="52514E"/>
                </a:solidFill>
                <a:latin typeface="Arial"/>
              </a:rPr>
              <a:t>·</a:t>
            </a:r>
            <a:r>
              <a:rPr sz="3410" b="0" i="0">
                <a:solidFill>
                  <a:srgbClr val="52514E"/>
                </a:solidFill>
                <a:latin typeface="Arial"/>
              </a:rPr>
              <a:t> </a:t>
            </a:r>
            <a:r>
              <a:rPr sz="3410" b="0" i="0">
                <a:solidFill>
                  <a:srgbClr val="52514E"/>
                </a:solidFill>
                <a:latin typeface="Arial"/>
              </a:rPr>
              <a:t>University of Missouri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57157" y="2904793"/>
            <a:ext cx="12477532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D03B3B"/>
                </a:solidFill>
                <a:latin typeface="Arial"/>
              </a:rPr>
              <a:t>REVIEW DRAFT 19 October:</a:t>
            </a:r>
            <a:r>
              <a:rPr sz="3410" b="0" i="0">
                <a:solidFill>
                  <a:srgbClr val="D03B3B"/>
                </a:solidFill>
                <a:latin typeface="Arial"/>
              </a:rPr>
              <a:t> </a:t>
            </a:r>
            <a:r>
              <a:rPr sz="3410" b="0" i="0">
                <a:solidFill>
                  <a:srgbClr val="D03B3B"/>
                </a:solidFill>
                <a:latin typeface="Arial"/>
              </a:rPr>
              <a:t>for collaborator review, not for print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5293" y="924641"/>
            <a:ext cx="17656331" cy="1201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460" b="1" i="0">
                <a:solidFill>
                  <a:srgbClr val="0B0B0B"/>
                </a:solidFill>
                <a:latin typeface="Arial"/>
              </a:rPr>
              <a:t>LEARNING WHAT TO CHANGE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1402" y="2212018"/>
            <a:ext cx="15704172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From Visual Reasoning to Scientific Hypothesis Revision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2333" y="2877692"/>
            <a:ext cx="9162612" cy="45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52514E"/>
                </a:solidFill>
                <a:latin typeface="Arial"/>
              </a:rPr>
              <a:t>Chimdi Walter Ndubuisi</a:t>
            </a:r>
            <a:r>
              <a:rPr sz="3570" b="0" i="1">
                <a:solidFill>
                  <a:srgbClr val="52514E"/>
                </a:solidFill>
                <a:latin typeface="Arial"/>
              </a:rPr>
              <a:t> </a:t>
            </a:r>
            <a:r>
              <a:rPr sz="3570" b="0" i="1">
                <a:solidFill>
                  <a:srgbClr val="52514E"/>
                </a:solidFill>
                <a:latin typeface="Arial"/>
              </a:rPr>
              <a:t>·</a:t>
            </a:r>
            <a:r>
              <a:rPr sz="3410" b="0" i="0">
                <a:solidFill>
                  <a:srgbClr val="52514E"/>
                </a:solidFill>
                <a:latin typeface="Arial"/>
              </a:rPr>
              <a:t> </a:t>
            </a:r>
            <a:r>
              <a:rPr sz="3410" b="0" i="0">
                <a:solidFill>
                  <a:srgbClr val="52514E"/>
                </a:solidFill>
                <a:latin typeface="Arial"/>
              </a:rPr>
              <a:t>University of Missouri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57157" y="2904793"/>
            <a:ext cx="12477532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D03B3B"/>
                </a:solidFill>
                <a:latin typeface="Arial"/>
              </a:rPr>
              <a:t>REVIEW DRAFT 19 October:</a:t>
            </a:r>
            <a:r>
              <a:rPr sz="3410" b="0" i="0">
                <a:solidFill>
                  <a:srgbClr val="D03B3B"/>
                </a:solidFill>
                <a:latin typeface="Arial"/>
              </a:rPr>
              <a:t> </a:t>
            </a:r>
            <a:r>
              <a:rPr sz="3410" b="0" i="0">
                <a:solidFill>
                  <a:srgbClr val="D03B3B"/>
                </a:solidFill>
                <a:latin typeface="Arial"/>
              </a:rPr>
              <a:t>for collaborator review, not for print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46777" y="4813474"/>
            <a:ext cx="20433493" cy="6971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90" b="1" i="0">
                <a:solidFill>
                  <a:srgbClr val="0B0B0B"/>
                </a:solidFill>
                <a:latin typeface="Arial"/>
              </a:rPr>
              <a:t>Can a reasoner recognize when its explanation is inadequate,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4072" y="5743573"/>
            <a:ext cx="12718788" cy="6971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90" b="1" i="0">
                <a:solidFill>
                  <a:srgbClr val="0B0B0B"/>
                </a:solidFill>
                <a:latin typeface="Arial"/>
              </a:rPr>
              <a:t>and determine what needs to change?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64767" y="6595817"/>
            <a:ext cx="2719717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52514E"/>
                </a:solidFill>
                <a:latin typeface="Arial"/>
              </a:rPr>
              <a:t>When an explanation is inadequate, how can a reasoner discover what is missing, choose what to revise, and test whether the revision helps?</a:t>
            </a:r>
            <a:r>
              <a:rPr sz="2840" b="0" i="0">
                <a:solidFill>
                  <a:srgbClr val="52514E"/>
                </a:solidFill>
                <a:latin typeface="Arial"/>
              </a:rPr>
              <a:t> </a:t>
            </a:r>
            <a:r>
              <a:rPr sz="2840" b="0" i="0">
                <a:solidFill>
                  <a:srgbClr val="52514E"/>
                </a:solidFill>
                <a:latin typeface="Arial"/>
              </a:rPr>
              <a:t>ARC-AGI-2 is the controlled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7894" y="7063965"/>
            <a:ext cx="937112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52514E"/>
                </a:solidFill>
                <a:latin typeface="Arial"/>
              </a:rPr>
              <a:t>testbed.</a:t>
            </a:r>
            <a:r>
              <a:rPr sz="2840" b="0" i="0">
                <a:solidFill>
                  <a:srgbClr val="52514E"/>
                </a:solidFill>
                <a:latin typeface="Arial"/>
              </a:rPr>
              <a:t> </a:t>
            </a:r>
            <a:r>
              <a:rPr sz="2840" b="0" i="0">
                <a:solidFill>
                  <a:srgbClr val="52514E"/>
                </a:solidFill>
                <a:latin typeface="Arial"/>
              </a:rPr>
              <a:t>A question shaped in discussions with Toni Kazic.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7056" y="7599237"/>
            <a:ext cx="27852693" cy="3834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Aims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, not yet all achieved: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 objects and relations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write executable hypotheses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notice inadequacy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choose a justified revision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test it independently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transfer the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278889" y="8089986"/>
            <a:ext cx="17690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procedure.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003" y="9336461"/>
            <a:ext cx="5536049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1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Why reasoning fails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6003" y="10583338"/>
            <a:ext cx="839824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Find one rule that fits both examples, then apply it 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003" y="11064133"/>
            <a:ext cx="228865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 new input.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6003" y="21833685"/>
            <a:ext cx="803778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The rule here: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each frame’s fill colour depends on its size.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003" y="23095610"/>
            <a:ext cx="724878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Three ways an explanation fails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003" y="37222351"/>
            <a:ext cx="798788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Telling these apart from the examples alone is the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003" y="37703146"/>
            <a:ext cx="294927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research problem.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37862" y="9336461"/>
            <a:ext cx="8002530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2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What CORA has demonstrated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37862" y="10482374"/>
            <a:ext cx="804268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CORA writes rules as programs and checks them.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7862" y="11795758"/>
            <a:ext cx="596843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Fitting is not enough</a:t>
            </a:r>
            <a:r>
              <a:rPr sz="2460" b="1" i="0">
                <a:solidFill>
                  <a:srgbClr val="0CA30C"/>
                </a:solidFill>
                <a:latin typeface="Arial"/>
              </a:rPr>
              <a:t> [DONE]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321070" y="13024749"/>
            <a:ext cx="852767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0CA30C"/>
                </a:solidFill>
                <a:latin typeface="Arial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16158" y="14391127"/>
            <a:ext cx="3062499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CA30C"/>
                </a:solidFill>
                <a:latin typeface="Arial"/>
              </a:rPr>
              <a:t>answers</a:t>
            </a:r>
            <a:r>
              <a:rPr sz="2840" b="0" i="0">
                <a:solidFill>
                  <a:srgbClr val="0CA30C"/>
                </a:solidFill>
                <a:latin typeface="Arial"/>
              </a:rPr>
              <a:t> </a:t>
            </a:r>
            <a:r>
              <a:rPr sz="2840" b="0" i="0">
                <a:solidFill>
                  <a:srgbClr val="0CA30C"/>
                </a:solidFill>
                <a:latin typeface="Arial"/>
              </a:rPr>
              <a:t>accepted,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30672" y="14871923"/>
            <a:ext cx="163345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CA30C"/>
                </a:solidFill>
                <a:latin typeface="Arial"/>
              </a:rPr>
              <a:t>all</a:t>
            </a:r>
            <a:r>
              <a:rPr sz="2840" b="0" i="0">
                <a:solidFill>
                  <a:srgbClr val="0CA30C"/>
                </a:solidFill>
                <a:latin typeface="Arial"/>
              </a:rPr>
              <a:t> </a:t>
            </a:r>
            <a:r>
              <a:rPr sz="2840" b="0" i="0">
                <a:solidFill>
                  <a:srgbClr val="0CA30C"/>
                </a:solidFill>
                <a:latin typeface="Arial"/>
              </a:rPr>
              <a:t>correct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52088" y="13024749"/>
            <a:ext cx="1654733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D03B3B"/>
                </a:solidFill>
                <a:latin typeface="Arial"/>
              </a:rPr>
              <a:t>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22436" y="14391127"/>
            <a:ext cx="371409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tasks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where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every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rule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116072" y="14871923"/>
            <a:ext cx="332681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that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fit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the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examples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667113" y="15352718"/>
            <a:ext cx="222483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failed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the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37861" y="15918941"/>
            <a:ext cx="744682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60 exposed ARC-AGI-2 training tasks; CORA’s object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7861" y="16323816"/>
            <a:ext cx="322940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reasoner as submitted.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37862" y="17523548"/>
            <a:ext cx="685713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rule CORA built</a:t>
            </a:r>
            <a:r>
              <a:rPr sz="2460" b="1" i="0">
                <a:solidFill>
                  <a:srgbClr val="0CA30C"/>
                </a:solidFill>
                <a:latin typeface="Arial"/>
              </a:rPr>
              <a:t> [DONE, NARROW]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7862" y="26668257"/>
            <a:ext cx="7414148" cy="360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The rule: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each object extends a diagonal line,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7862" y="27149056"/>
            <a:ext cx="7950665" cy="360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chosen by its colour:</a:t>
            </a:r>
            <a:r>
              <a:rPr sz="2840" b="1" i="0">
                <a:solidFill>
                  <a:srgbClr val="0074D9"/>
                </a:solidFill>
                <a:latin typeface="Arial"/>
              </a:rPr>
              <a:t> </a:t>
            </a:r>
            <a:r>
              <a:rPr sz="2840" b="1" i="0">
                <a:solidFill>
                  <a:srgbClr val="0074D9"/>
                </a:solidFill>
                <a:latin typeface="Arial"/>
              </a:rPr>
              <a:t>blue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up-left,</a:t>
            </a:r>
            <a:r>
              <a:rPr sz="2840" b="1" i="0">
                <a:solidFill>
                  <a:srgbClr val="FF4136"/>
                </a:solidFill>
                <a:latin typeface="Arial"/>
              </a:rPr>
              <a:t> red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down-right.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41723" y="27628750"/>
            <a:ext cx="5855675" cy="400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90" b="0" i="0">
                <a:solidFill>
                  <a:srgbClr val="0CA30C"/>
                </a:solidFill>
                <a:latin typeface="Arial"/>
              </a:rPr>
              <a:t>✓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 constructed this executable rule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41723" y="28069694"/>
            <a:ext cx="6410083" cy="400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90" b="0" i="0">
                <a:solidFill>
                  <a:srgbClr val="0CA30C"/>
                </a:solidFill>
                <a:latin typeface="Arial"/>
              </a:rPr>
              <a:t>✓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 prediction on this development task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1723" y="28510625"/>
            <a:ext cx="6568220" cy="400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90" b="0" i="0">
                <a:solidFill>
                  <a:srgbClr val="0CA30C"/>
                </a:solidFill>
                <a:latin typeface="Arial"/>
              </a:rPr>
              <a:t>✓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rebuilt 3 of 3 times with one example left out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33353" y="29039982"/>
            <a:ext cx="667253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52514E"/>
                </a:solidFill>
                <a:latin typeface="Arial"/>
              </a:rPr>
              <a:t>=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 version blind to failures found the same rule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37862" y="29571342"/>
            <a:ext cx="794123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52514E"/>
                </a:solidFill>
                <a:latin typeface="Arial"/>
              </a:rPr>
              <a:t>An exposed ARC training task, not an unseen Kaggle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37862" y="29976216"/>
            <a:ext cx="13711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52514E"/>
                </a:solidFill>
                <a:latin typeface="Arial"/>
              </a:rPr>
              <a:t>success.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37862" y="31176010"/>
            <a:ext cx="58710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Did it generalize?</a:t>
            </a:r>
            <a:r>
              <a:rPr sz="2460" b="1" i="0">
                <a:solidFill>
                  <a:srgbClr val="D03B3B"/>
                </a:solidFill>
                <a:latin typeface="Arial"/>
              </a:rPr>
              <a:t> [NEGATIVE]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318413" y="32315822"/>
            <a:ext cx="3659649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D03B3B"/>
                </a:solidFill>
                <a:latin typeface="Arial"/>
              </a:rPr>
              <a:t>0 / 58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5863" y="33664180"/>
            <a:ext cx="706475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new verified solutions from rule construction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37862" y="37091261"/>
            <a:ext cx="767497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Shown: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construction that used the failure record.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Every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37862" y="37496151"/>
            <a:ext cx="488481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variant found 0; no wrong answers.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739735" y="9336461"/>
            <a:ext cx="7800116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3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How neural learning may help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335479" y="10958500"/>
            <a:ext cx="3045034" cy="264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52514E"/>
                </a:solidFill>
                <a:latin typeface="Arial"/>
              </a:rPr>
              <a:t>existing neural baseline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557746" y="10958500"/>
            <a:ext cx="3456494" cy="264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52514E"/>
                </a:solidFill>
                <a:latin typeface="Arial"/>
              </a:rPr>
              <a:t>existing symbolic reasoner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895117" y="11504416"/>
            <a:ext cx="1925730" cy="5529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350" b="1" i="0">
                <a:solidFill>
                  <a:srgbClr val="0B0B0B"/>
                </a:solidFill>
                <a:latin typeface="Arial"/>
              </a:rPr>
              <a:t>27.64%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476821" y="11504416"/>
            <a:ext cx="1618313" cy="5529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350" b="1" i="0">
                <a:solidFill>
                  <a:srgbClr val="0B0B0B"/>
                </a:solidFill>
                <a:latin typeface="Arial"/>
              </a:rPr>
              <a:t>0.00%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978621" y="12184758"/>
            <a:ext cx="3758759" cy="264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public score; published method,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487790" y="12526374"/>
            <a:ext cx="2740404" cy="264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reproduced; not CORA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056208" y="12184758"/>
            <a:ext cx="2459561" cy="264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public score; original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327506" y="12526374"/>
            <a:ext cx="1916934" cy="264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CORA research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739735" y="21373963"/>
            <a:ext cx="775925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Can neural learning help a reasoner discover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739735" y="21854760"/>
            <a:ext cx="734493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useful representations and rules—and can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739735" y="22335557"/>
            <a:ext cx="827418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executable verification help it determine what to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739735" y="22816354"/>
            <a:ext cx="8561939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change when those explanations are inadequate?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739735" y="23366133"/>
            <a:ext cx="772903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Solid: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existing.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proposed.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The neural proposal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39735" y="23771009"/>
            <a:ext cx="796842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interface has not yet been implemented or experimentally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739735" y="24175897"/>
            <a:ext cx="746683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validated; the neural model outputs answer grids only.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739735" y="25441568"/>
            <a:ext cx="48000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CORA-v2</a:t>
            </a:r>
            <a:r>
              <a:rPr sz="2460" b="1" i="0">
                <a:solidFill>
                  <a:srgbClr val="EB6834"/>
                </a:solidFill>
                <a:latin typeface="Arial"/>
              </a:rPr>
              <a:t> [DEVELOPMENT]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739735" y="26578278"/>
            <a:ext cx="743038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Compares rival rules; records why it is unsure.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739735" y="31281392"/>
            <a:ext cx="822655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On 118 exposed development tasks: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4 correct and 1 wrong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739735" y="31686270"/>
            <a:ext cx="53232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exploratory guesses; nothing certified.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739735" y="32951939"/>
            <a:ext cx="857162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From ARC to science</a:t>
            </a:r>
            <a:r>
              <a:rPr sz="2460" b="1" i="0">
                <a:solidFill>
                  <a:srgbClr val="D03B3B"/>
                </a:solidFill>
                <a:latin typeface="Arial"/>
              </a:rPr>
              <a:t> [FUTURE, NOT TESTED]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739735" y="36308496"/>
            <a:ext cx="78743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Possible targets: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proteins, omics data, plant phenotypes,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739735" y="36713374"/>
            <a:ext cx="781590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maize lesion-mimic pathways.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 could transfer is the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739735" y="37118264"/>
            <a:ext cx="495232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revision policy, not ARC operations.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55624" y="39128027"/>
            <a:ext cx="26033379" cy="576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540" b="1" i="0">
                <a:solidFill>
                  <a:srgbClr val="0B0B0B"/>
                </a:solidFill>
                <a:latin typeface="Arial"/>
              </a:rPr>
              <a:t>Building a rule is not the same as learning which revision improves an unseen prediction.</a:t>
            </a:r>
            <a:r>
              <a:rPr sz="4540" b="1" i="0">
                <a:solidFill>
                  <a:srgbClr val="0B0B0B"/>
                </a:solidFill>
                <a:latin typeface="Arial"/>
              </a:rPr>
              <a:t> </a:t>
            </a:r>
            <a:r>
              <a:rPr sz="4540" b="1" i="0">
                <a:solidFill>
                  <a:srgbClr val="0B0B0B"/>
                </a:solidFill>
                <a:latin typeface="Arial"/>
              </a:rPr>
              <a:t>That is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55624" y="39689940"/>
            <a:ext cx="6938485" cy="576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540" b="1" i="0">
                <a:solidFill>
                  <a:srgbClr val="0B0B0B"/>
                </a:solidFill>
                <a:latin typeface="Arial"/>
              </a:rPr>
              <a:t>what we are trying to test.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28916" y="39767926"/>
            <a:ext cx="555329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CA30C"/>
                </a:solidFill>
                <a:latin typeface="Arial"/>
              </a:rPr>
              <a:t>[DONE]</a:t>
            </a:r>
            <a:r>
              <a:rPr sz="2460" b="0" i="0">
                <a:solidFill>
                  <a:srgbClr val="D03B3B"/>
                </a:solidFill>
                <a:latin typeface="Arial"/>
              </a:rPr>
              <a:t> [NEGATIVE]</a:t>
            </a:r>
            <a:r>
              <a:rPr sz="2460" b="0" i="0">
                <a:solidFill>
                  <a:srgbClr val="EB6834"/>
                </a:solidFill>
                <a:latin typeface="Arial"/>
              </a:rPr>
              <a:t> [DEVELOPMENT]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28916" y="40172800"/>
            <a:ext cx="36325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D03B3B"/>
                </a:solidFill>
                <a:latin typeface="Arial"/>
              </a:rPr>
              <a:t>[FUTURE, NOT TESTED]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6003" y="40839981"/>
            <a:ext cx="28454906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Related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work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(explainer,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section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9):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Popper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(Cropper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&amp;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Morel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2021);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DreamCoder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(Ellis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et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al.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2021);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LILO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(Grand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et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al.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2024);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Model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Discovery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Agent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(Murphy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2026).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The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failure-to-revision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idea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is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not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new;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the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question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is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which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component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6003" y="41181597"/>
            <a:ext cx="28454903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to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revise,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against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matched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controls.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Neural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baseline: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the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NVARC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team’s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published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method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and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Qwen3-4B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checkpoint,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reproduced.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A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separate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CORA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experiment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on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inventing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new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operations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is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running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(explainer,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section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7).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Numbers: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6003" y="41518275"/>
            <a:ext cx="17875530" cy="2826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52514E"/>
                </a:solidFill>
                <a:latin typeface="Courier New"/>
              </a:rPr>
              <a:t>records/CORA_SUMMIT_CLAIM_LEDGER_20261017.md</a:t>
            </a:r>
            <a:r>
              <a:rPr sz="2070" b="0" i="1">
                <a:solidFill>
                  <a:srgbClr val="52514E"/>
                </a:solidFill>
                <a:latin typeface="Arial"/>
              </a:rPr>
              <a:t> ·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AI coding assistance used for parts of the code and text</a:t>
            </a:r>
            <a:r>
              <a:rPr sz="2070" b="0" i="1">
                <a:solidFill>
                  <a:srgbClr val="52514E"/>
                </a:solidFill>
                <a:latin typeface="Arial"/>
              </a:rPr>
              <a:t> ·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authorship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What to Change (CORA, ARC Prize Research Summit 2026), visual review draft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