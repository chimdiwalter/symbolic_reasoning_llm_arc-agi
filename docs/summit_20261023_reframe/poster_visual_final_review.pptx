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9308" y="11952680"/>
            <a:ext cx="8567053" cy="224420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2606" y="12336133"/>
            <a:ext cx="230133" cy="203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2643" y="12336133"/>
            <a:ext cx="230131" cy="203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01271" y="12551873"/>
            <a:ext cx="203200" cy="37982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2931" y="13416146"/>
            <a:ext cx="230133" cy="203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79259" y="10763580"/>
            <a:ext cx="7976554" cy="828309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230694" y="11303420"/>
            <a:ext cx="203200" cy="20635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230694" y="12098581"/>
            <a:ext cx="203200" cy="23433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230694" y="12921721"/>
            <a:ext cx="203200" cy="23877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30694" y="13791026"/>
            <a:ext cx="203200" cy="344123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26667" y="16044392"/>
            <a:ext cx="203200" cy="251311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374693" y="16044392"/>
            <a:ext cx="203200" cy="224998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006680" y="17212519"/>
            <a:ext cx="203200" cy="24669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230694" y="18031908"/>
            <a:ext cx="203200" cy="211824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813185" y="34238982"/>
            <a:ext cx="8423045" cy="1833909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289409" y="35054337"/>
            <a:ext cx="248270" cy="2032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241449" y="35054337"/>
            <a:ext cx="248270" cy="2032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0851" y="40416971"/>
            <a:ext cx="3526990" cy="719401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5544" y="40416971"/>
            <a:ext cx="4679004" cy="719401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53938" y="467733"/>
            <a:ext cx="29368136" cy="3364985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3287" y="1019462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3287" y="2232587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5281" y="1010110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475281" y="1597162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75281" y="2165189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75281" y="3351386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0377274" y="1020207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377274" y="2202017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377274" y="3005905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77274" y="3367778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9378353" y="38784221"/>
            <a:ext cx="9570397" cy="2269464"/>
          </a:xfrm>
          <a:prstGeom prst="roundRect">
            <a:avLst>
              <a:gd name="adj" fmla="val 2000"/>
            </a:avLst>
          </a:prstGeom>
          <a:noFill/>
          <a:ln w="20244">
            <a:solidFill>
              <a:srgbClr val="525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ig_arc_intro_00dbd492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6003" y="11553632"/>
            <a:ext cx="8570548" cy="8643762"/>
          </a:xfrm>
          <a:prstGeom prst="rect">
            <a:avLst/>
          </a:prstGeom>
        </p:spPr>
      </p:pic>
      <p:pic>
        <p:nvPicPr>
          <p:cNvPr id="34" name="Picture 33" descr="fig_four_reasons_ILLUSTRATIV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6003" y="22972349"/>
            <a:ext cx="8570548" cy="10341399"/>
          </a:xfrm>
          <a:prstGeom prst="rect">
            <a:avLst/>
          </a:prstGeom>
        </p:spPr>
      </p:pic>
      <p:pic>
        <p:nvPicPr>
          <p:cNvPr id="35" name="Picture 34" descr="fig_real_rule_ka95aa62f67d9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37874" y="22298400"/>
            <a:ext cx="8570549" cy="6589210"/>
          </a:xfrm>
          <a:prstGeom prst="rect">
            <a:avLst/>
          </a:prstGeom>
        </p:spPr>
      </p:pic>
      <p:pic>
        <p:nvPicPr>
          <p:cNvPr id="36" name="Picture 35" descr="fig_v2_uncertified_00dbd492_post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0739735" y="23475950"/>
            <a:ext cx="8570549" cy="384370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335293" y="924641"/>
            <a:ext cx="17656331" cy="1201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460" b="1" i="0">
                <a:solidFill>
                  <a:srgbClr val="0B0B0B"/>
                </a:solidFill>
                <a:latin typeface="Arial"/>
              </a:rPr>
              <a:t>LEARNING WHAT TO CHANGE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1402" y="2212018"/>
            <a:ext cx="15704172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From Visual Reasoning to Scientific Hypothesis Revision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92333" y="2877692"/>
            <a:ext cx="9162612" cy="45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52514E"/>
                </a:solidFill>
                <a:latin typeface="Arial"/>
              </a:rPr>
              <a:t>Chimdi Walter Ndubuisi</a:t>
            </a:r>
            <a:r>
              <a:rPr sz="3570" b="0" i="1">
                <a:solidFill>
                  <a:srgbClr val="52514E"/>
                </a:solidFill>
                <a:latin typeface="Arial"/>
              </a:rPr>
              <a:t> </a:t>
            </a:r>
            <a:r>
              <a:rPr sz="3570" b="0" i="1">
                <a:solidFill>
                  <a:srgbClr val="52514E"/>
                </a:solidFill>
                <a:latin typeface="Arial"/>
              </a:rPr>
              <a:t>·</a:t>
            </a:r>
            <a:r>
              <a:rPr sz="3410" b="0" i="0">
                <a:solidFill>
                  <a:srgbClr val="52514E"/>
                </a:solidFill>
                <a:latin typeface="Arial"/>
              </a:rPr>
              <a:t> </a:t>
            </a:r>
            <a:r>
              <a:rPr sz="3410" b="0" i="0">
                <a:solidFill>
                  <a:srgbClr val="52514E"/>
                </a:solidFill>
                <a:latin typeface="Arial"/>
              </a:rPr>
              <a:t>University of Missouri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57157" y="2904793"/>
            <a:ext cx="12477532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D03B3B"/>
                </a:solidFill>
                <a:latin typeface="Arial"/>
              </a:rPr>
              <a:t>REVIEW DRAFT 19 October:</a:t>
            </a:r>
            <a:r>
              <a:rPr sz="3410" b="0" i="0">
                <a:solidFill>
                  <a:srgbClr val="D03B3B"/>
                </a:solidFill>
                <a:latin typeface="Arial"/>
              </a:rPr>
              <a:t> </a:t>
            </a:r>
            <a:r>
              <a:rPr sz="3410" b="0" i="0">
                <a:solidFill>
                  <a:srgbClr val="D03B3B"/>
                </a:solidFill>
                <a:latin typeface="Arial"/>
              </a:rPr>
              <a:t>for collaborator review, not for print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5293" y="924641"/>
            <a:ext cx="17656331" cy="1201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460" b="1" i="0">
                <a:solidFill>
                  <a:srgbClr val="0B0B0B"/>
                </a:solidFill>
                <a:latin typeface="Arial"/>
              </a:rPr>
              <a:t>LEARNING WHAT TO CHANGE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1402" y="2212018"/>
            <a:ext cx="15704172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From Visual Reasoning to Scientific Hypothesis Revision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92333" y="2877692"/>
            <a:ext cx="9162612" cy="45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52514E"/>
                </a:solidFill>
                <a:latin typeface="Arial"/>
              </a:rPr>
              <a:t>Chimdi Walter Ndubuisi</a:t>
            </a:r>
            <a:r>
              <a:rPr sz="3570" b="0" i="1">
                <a:solidFill>
                  <a:srgbClr val="52514E"/>
                </a:solidFill>
                <a:latin typeface="Arial"/>
              </a:rPr>
              <a:t> </a:t>
            </a:r>
            <a:r>
              <a:rPr sz="3570" b="0" i="1">
                <a:solidFill>
                  <a:srgbClr val="52514E"/>
                </a:solidFill>
                <a:latin typeface="Arial"/>
              </a:rPr>
              <a:t>·</a:t>
            </a:r>
            <a:r>
              <a:rPr sz="3410" b="0" i="0">
                <a:solidFill>
                  <a:srgbClr val="52514E"/>
                </a:solidFill>
                <a:latin typeface="Arial"/>
              </a:rPr>
              <a:t> </a:t>
            </a:r>
            <a:r>
              <a:rPr sz="3410" b="0" i="0">
                <a:solidFill>
                  <a:srgbClr val="52514E"/>
                </a:solidFill>
                <a:latin typeface="Arial"/>
              </a:rPr>
              <a:t>University of Missouri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57157" y="2904793"/>
            <a:ext cx="12477532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D03B3B"/>
                </a:solidFill>
                <a:latin typeface="Arial"/>
              </a:rPr>
              <a:t>REVIEW DRAFT 19 October:</a:t>
            </a:r>
            <a:r>
              <a:rPr sz="3410" b="0" i="0">
                <a:solidFill>
                  <a:srgbClr val="D03B3B"/>
                </a:solidFill>
                <a:latin typeface="Arial"/>
              </a:rPr>
              <a:t> </a:t>
            </a:r>
            <a:r>
              <a:rPr sz="3410" b="0" i="0">
                <a:solidFill>
                  <a:srgbClr val="D03B3B"/>
                </a:solidFill>
                <a:latin typeface="Arial"/>
              </a:rPr>
              <a:t>for collaborator review, not for print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46777" y="4813474"/>
            <a:ext cx="20433493" cy="6971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90" b="1" i="0">
                <a:solidFill>
                  <a:srgbClr val="0B0B0B"/>
                </a:solidFill>
                <a:latin typeface="Arial"/>
              </a:rPr>
              <a:t>Can a reasoner recognize when its explanation is inadequate,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04072" y="5743573"/>
            <a:ext cx="12718788" cy="6971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90" b="1" i="0">
                <a:solidFill>
                  <a:srgbClr val="0B0B0B"/>
                </a:solidFill>
                <a:latin typeface="Arial"/>
              </a:rPr>
              <a:t>and determine what needs to change?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7364" y="6595817"/>
            <a:ext cx="2811201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52514E"/>
                </a:solidFill>
                <a:latin typeface="Arial"/>
              </a:rPr>
              <a:t>Solving a problem is not the same as knowing why the solution works, or what to change when the available concepts and rules fall short.</a:t>
            </a:r>
            <a:r>
              <a:rPr sz="2840" b="0" i="0">
                <a:solidFill>
                  <a:srgbClr val="52514E"/>
                </a:solidFill>
                <a:latin typeface="Arial"/>
              </a:rPr>
              <a:t> </a:t>
            </a:r>
            <a:r>
              <a:rPr sz="2840" b="0" i="0">
                <a:solidFill>
                  <a:srgbClr val="52514E"/>
                </a:solidFill>
                <a:latin typeface="Arial"/>
              </a:rPr>
              <a:t>A question shaped in discussions with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267891" y="7063965"/>
            <a:ext cx="179103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52514E"/>
                </a:solidFill>
                <a:latin typeface="Arial"/>
              </a:rPr>
              <a:t>Toni Kazic.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37056" y="7599237"/>
            <a:ext cx="27852693" cy="3834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Aims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, not yet all achieved: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 objects and relations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write executable hypotheses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notice inadequacy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choose a justified revision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test it independently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transfer the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278889" y="8089986"/>
            <a:ext cx="17690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procedure.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003" y="9336461"/>
            <a:ext cx="6657745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1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Why ARC is a useful 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6003" y="10575897"/>
            <a:ext cx="819595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ARC tasks require inferring a transformation from 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6003" y="11056692"/>
            <a:ext cx="709000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few examples and applying it to a new input.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003" y="20361730"/>
            <a:ext cx="601486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Each frame’s fill colour depends on its size.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6003" y="21623642"/>
            <a:ext cx="520059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reasons to revise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6003" y="33643512"/>
            <a:ext cx="786420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These are different possible causes.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Telling them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6003" y="34124310"/>
            <a:ext cx="758474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apart, from the examples alone, is the research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6003" y="34605109"/>
            <a:ext cx="144630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problem.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7862" y="9336461"/>
            <a:ext cx="5214402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2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CORA: what I built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7862" y="10482374"/>
            <a:ext cx="843898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CORA is an executable ARC reasoning system used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37862" y="10963169"/>
            <a:ext cx="828103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to investigate how models construct, test and revise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37862" y="11443965"/>
            <a:ext cx="663708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hypotheses from sparse visual examples.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7862" y="15168511"/>
            <a:ext cx="596843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Fitting is not enough</a:t>
            </a:r>
            <a:r>
              <a:rPr sz="2460" b="1" i="0">
                <a:solidFill>
                  <a:srgbClr val="0CA30C"/>
                </a:solidFill>
                <a:latin typeface="Arial"/>
              </a:rPr>
              <a:t> [DONE]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321070" y="16397501"/>
            <a:ext cx="852767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0CA30C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16158" y="17763880"/>
            <a:ext cx="3062499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CA30C"/>
                </a:solidFill>
                <a:latin typeface="Arial"/>
              </a:rPr>
              <a:t>answers</a:t>
            </a:r>
            <a:r>
              <a:rPr sz="2840" b="0" i="0">
                <a:solidFill>
                  <a:srgbClr val="0CA30C"/>
                </a:solidFill>
                <a:latin typeface="Arial"/>
              </a:rPr>
              <a:t> </a:t>
            </a:r>
            <a:r>
              <a:rPr sz="2840" b="0" i="0">
                <a:solidFill>
                  <a:srgbClr val="0CA30C"/>
                </a:solidFill>
                <a:latin typeface="Arial"/>
              </a:rPr>
              <a:t>accepted,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30672" y="18244677"/>
            <a:ext cx="163345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CA30C"/>
                </a:solidFill>
                <a:latin typeface="Arial"/>
              </a:rPr>
              <a:t>all</a:t>
            </a:r>
            <a:r>
              <a:rPr sz="2840" b="0" i="0">
                <a:solidFill>
                  <a:srgbClr val="0CA30C"/>
                </a:solidFill>
                <a:latin typeface="Arial"/>
              </a:rPr>
              <a:t> </a:t>
            </a:r>
            <a:r>
              <a:rPr sz="2840" b="0" i="0">
                <a:solidFill>
                  <a:srgbClr val="0CA30C"/>
                </a:solidFill>
                <a:latin typeface="Arial"/>
              </a:rPr>
              <a:t>correct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952088" y="16397501"/>
            <a:ext cx="1654733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D03B3B"/>
                </a:solidFill>
                <a:latin typeface="Arial"/>
              </a:rP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922436" y="17763880"/>
            <a:ext cx="371409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tasks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where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every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rule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116072" y="18244677"/>
            <a:ext cx="332681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that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fit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the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examples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667113" y="18725474"/>
            <a:ext cx="222483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failed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the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test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37861" y="19291692"/>
            <a:ext cx="744682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60 exposed ARC-AGI-2 training tasks; CORA’s object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37861" y="19696580"/>
            <a:ext cx="322940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reasoner as submitted.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37874" y="20896301"/>
            <a:ext cx="685713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rule CORA built</a:t>
            </a:r>
            <a:r>
              <a:rPr sz="2460" b="1" i="0">
                <a:solidFill>
                  <a:srgbClr val="0CA30C"/>
                </a:solidFill>
                <a:latin typeface="Arial"/>
              </a:rPr>
              <a:t> [DONE, NARROW]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7874" y="29217363"/>
            <a:ext cx="857168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Depending on an object’s colour, extend a line toward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37874" y="29698159"/>
            <a:ext cx="7732135" cy="360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one of two corners:</a:t>
            </a:r>
            <a:r>
              <a:rPr sz="2840" b="1" i="0">
                <a:solidFill>
                  <a:srgbClr val="0074D9"/>
                </a:solidFill>
                <a:latin typeface="Arial"/>
              </a:rPr>
              <a:t> </a:t>
            </a:r>
            <a:r>
              <a:rPr sz="2840" b="1" i="0">
                <a:solidFill>
                  <a:srgbClr val="0074D9"/>
                </a:solidFill>
                <a:latin typeface="Arial"/>
              </a:rPr>
              <a:t>blue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up-left,</a:t>
            </a:r>
            <a:r>
              <a:rPr sz="2840" b="1" i="0">
                <a:solidFill>
                  <a:srgbClr val="FF4136"/>
                </a:solidFill>
                <a:latin typeface="Arial"/>
              </a:rPr>
              <a:t> red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down-right.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37874" y="30230201"/>
            <a:ext cx="84612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Automatically constructed conditional operation; rebuilt 3 of 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37874" y="30635091"/>
            <a:ext cx="842532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times with one example held out.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An exposed task chosen 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37874" y="31039968"/>
            <a:ext cx="79671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development; a constructor that ignored the failure record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7874" y="31444843"/>
            <a:ext cx="799749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found the same rule, so diagnosis did not cause this gain.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37874" y="32710524"/>
            <a:ext cx="58710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Did it generalize?</a:t>
            </a:r>
            <a:r>
              <a:rPr sz="2460" b="1" i="0">
                <a:solidFill>
                  <a:srgbClr val="D03B3B"/>
                </a:solidFill>
                <a:latin typeface="Arial"/>
              </a:rPr>
              <a:t> [NEGATIVE]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318413" y="33850336"/>
            <a:ext cx="3659649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D03B3B"/>
                </a:solidFill>
                <a:latin typeface="Arial"/>
              </a:rPr>
              <a:t>0 / 58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820867" y="35216718"/>
            <a:ext cx="665475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new verified solves from rule construction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37874" y="35748760"/>
            <a:ext cx="791310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58 separately selected, still exposed training tasks; every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37874" y="36153635"/>
            <a:ext cx="823062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construction variant; no wrong answers; no advantage from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37874" y="36558525"/>
            <a:ext cx="247311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the failure record.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739748" y="9336461"/>
            <a:ext cx="6366857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3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Learning what to revise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993701" y="16840784"/>
            <a:ext cx="315238" cy="11865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supported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739748" y="19252271"/>
            <a:ext cx="727680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Recognizing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an inadequate explanation: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partly built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739748" y="19657159"/>
            <a:ext cx="8456804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(CORA-v2).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Knowing which revision helps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 yet shown.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739749" y="20062035"/>
            <a:ext cx="525109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CORA never sees the hidden answer.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739735" y="21264574"/>
            <a:ext cx="48000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CORA-v2</a:t>
            </a:r>
            <a:r>
              <a:rPr sz="2460" b="1" i="0">
                <a:solidFill>
                  <a:srgbClr val="EB6834"/>
                </a:solidFill>
                <a:latin typeface="Arial"/>
              </a:rPr>
              <a:t> [DEVELOPMENT]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39735" y="22401299"/>
            <a:ext cx="7928009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Compares alternative executable hypotheses 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739735" y="22882096"/>
            <a:ext cx="432277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records why it is uncertain.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739735" y="27585196"/>
            <a:ext cx="822655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On 118 exposed development tasks: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4 correct and 1 wrong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739735" y="27990086"/>
            <a:ext cx="53232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exploratory guesses; nothing certified.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739735" y="29255755"/>
            <a:ext cx="753390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Inventing new operations</a:t>
            </a:r>
            <a:r>
              <a:rPr sz="2460" b="1" i="0">
                <a:solidFill>
                  <a:srgbClr val="52514E"/>
                </a:solidFill>
                <a:latin typeface="Arial"/>
              </a:rPr>
              <a:t> [RUNNING]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739735" y="30441707"/>
            <a:ext cx="788335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Automatic rule-language extension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 a separate CORA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739735" y="30846597"/>
            <a:ext cx="784372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experiment: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can a system build new reusable operations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739735" y="31251472"/>
            <a:ext cx="76280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itself?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475 of 497 proposal units done (19 October); no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739735" y="31656359"/>
            <a:ext cx="68377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verdict; not part of CORA-v2 or any Kaggle entry.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739735" y="32922030"/>
            <a:ext cx="857162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From ARC to science</a:t>
            </a:r>
            <a:r>
              <a:rPr sz="2460" b="1" i="0">
                <a:solidFill>
                  <a:srgbClr val="D03B3B"/>
                </a:solidFill>
                <a:latin typeface="Arial"/>
              </a:rPr>
              <a:t> [FUTURE, NOT TESTED]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739735" y="36269038"/>
            <a:ext cx="7869132" cy="3220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Proteins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single-cell and omics data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plant phenotypes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739732" y="36683466"/>
            <a:ext cx="813685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pathways suggested by maize lesion mimics, checked with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39732" y="37088356"/>
            <a:ext cx="858563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molecular or perturbation evidence.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 could transfer is the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39732" y="37493230"/>
            <a:ext cx="495232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revision policy, not ARC operations.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58151" y="38947408"/>
            <a:ext cx="17381508" cy="528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160" b="1" i="0">
                <a:solidFill>
                  <a:srgbClr val="0B0B0B"/>
                </a:solidFill>
                <a:latin typeface="Arial"/>
              </a:rPr>
              <a:t>Building a rule is not the same as learning which revision improves 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8151" y="39463547"/>
            <a:ext cx="13065356" cy="528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160" b="1" i="0">
                <a:solidFill>
                  <a:srgbClr val="0B0B0B"/>
                </a:solidFill>
                <a:latin typeface="Arial"/>
              </a:rPr>
              <a:t>unseen prediction.</a:t>
            </a:r>
            <a:r>
              <a:rPr sz="4160" b="1" i="0">
                <a:solidFill>
                  <a:srgbClr val="0B0B0B"/>
                </a:solidFill>
                <a:latin typeface="Arial"/>
              </a:rPr>
              <a:t> </a:t>
            </a:r>
            <a:r>
              <a:rPr sz="4160" b="1" i="0">
                <a:solidFill>
                  <a:srgbClr val="0B0B0B"/>
                </a:solidFill>
                <a:latin typeface="Arial"/>
              </a:rPr>
              <a:t>That is what we are trying to test.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71444" y="40417951"/>
            <a:ext cx="55532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CA30C"/>
                </a:solidFill>
                <a:latin typeface="Arial"/>
              </a:rPr>
              <a:t>[DONE]</a:t>
            </a:r>
            <a:r>
              <a:rPr sz="2460" b="0" i="0">
                <a:solidFill>
                  <a:srgbClr val="D03B3B"/>
                </a:solidFill>
                <a:latin typeface="Arial"/>
              </a:rPr>
              <a:t> [NEGATIVE]</a:t>
            </a:r>
            <a:r>
              <a:rPr sz="2460" b="0" i="0">
                <a:solidFill>
                  <a:srgbClr val="EB6834"/>
                </a:solidFill>
                <a:latin typeface="Arial"/>
              </a:rPr>
              <a:t> [DEVELOPMENT]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71444" y="40822829"/>
            <a:ext cx="533889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[RUNNING]</a:t>
            </a:r>
            <a:r>
              <a:rPr sz="2460" b="0" i="0">
                <a:solidFill>
                  <a:srgbClr val="D03B3B"/>
                </a:solidFill>
                <a:latin typeface="Arial"/>
              </a:rPr>
              <a:t> [FUTURE, NOT TESTED]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555245" y="38950658"/>
            <a:ext cx="9110214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baseline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ARC-AGI-2: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555243" y="39345982"/>
            <a:ext cx="8424236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0.00%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NVARC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9555245" y="39760422"/>
            <a:ext cx="902145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27.64%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third-party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Qwen3-4B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method,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compet-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555245" y="40165297"/>
            <a:ext cx="879190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baseline.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whether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executable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9555245" y="40570187"/>
            <a:ext cx="272594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separate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capability.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6003" y="41490007"/>
            <a:ext cx="28454909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Related work: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Popper (Cropper &amp; Morel 2021); DreamCoder (Ellis et al. 2021); LILO (Grand et al. 2024); Model Discovery Agent (Murphy 2026).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The failure-to-revision idea is not new; the question is which component to revise, against matched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6003" y="41826684"/>
            <a:ext cx="20198843" cy="2826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controls.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Numbers:</a:t>
            </a:r>
            <a:r>
              <a:rPr sz="2190" b="0" i="0">
                <a:solidFill>
                  <a:srgbClr val="52514E"/>
                </a:solidFill>
                <a:latin typeface="Courier New"/>
              </a:rPr>
              <a:t> </a:t>
            </a:r>
            <a:r>
              <a:rPr sz="2190" b="0" i="0">
                <a:solidFill>
                  <a:srgbClr val="52514E"/>
                </a:solidFill>
                <a:latin typeface="Courier New"/>
              </a:rPr>
              <a:t>records/CORA_SUMMIT_CLAIM_LEDGER_20261017.md</a:t>
            </a:r>
            <a:r>
              <a:rPr sz="2070" b="0" i="1">
                <a:solidFill>
                  <a:srgbClr val="52514E"/>
                </a:solidFill>
                <a:latin typeface="Arial"/>
              </a:rPr>
              <a:t> ·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AI coding assistance used for parts of the code and text</a:t>
            </a:r>
            <a:r>
              <a:rPr sz="2070" b="0" i="1">
                <a:solidFill>
                  <a:srgbClr val="52514E"/>
                </a:solidFill>
                <a:latin typeface="Arial"/>
              </a:rPr>
              <a:t> ·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authorship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What to Change (CORA, ARC Prize Research Summit 2026), visual review draft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