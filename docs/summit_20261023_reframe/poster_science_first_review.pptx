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6947" y="5506647"/>
            <a:ext cx="400454" cy="35752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772" y="11597447"/>
            <a:ext cx="15711875" cy="644256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6969" y="11644735"/>
            <a:ext cx="3705725" cy="185922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0641" y="12395586"/>
            <a:ext cx="400454" cy="3575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1781" y="12472747"/>
            <a:ext cx="658190" cy="203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55748" y="12472747"/>
            <a:ext cx="644273" cy="203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5798" y="12472747"/>
            <a:ext cx="644273" cy="203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75846" y="12472747"/>
            <a:ext cx="644273" cy="203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435896" y="12472747"/>
            <a:ext cx="644273" cy="203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11553" y="13317207"/>
            <a:ext cx="203200" cy="1427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46125" y="15676784"/>
            <a:ext cx="1418283" cy="203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951493" y="13633012"/>
            <a:ext cx="203200" cy="147451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461178" y="27940505"/>
            <a:ext cx="3166984" cy="134739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134489" y="28137228"/>
            <a:ext cx="3453725" cy="66721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421226" y="29511516"/>
            <a:ext cx="3166988" cy="94394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461178" y="29794658"/>
            <a:ext cx="3453724" cy="66439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421226" y="30992436"/>
            <a:ext cx="3166988" cy="100614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441411" y="28369235"/>
            <a:ext cx="896277" cy="203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903120" y="28617691"/>
            <a:ext cx="203200" cy="1097024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711702" y="30025258"/>
            <a:ext cx="896275" cy="2032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943070" y="29084705"/>
            <a:ext cx="203200" cy="896704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903120" y="30268710"/>
            <a:ext cx="203200" cy="92692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53938" y="287731"/>
            <a:ext cx="29368136" cy="333433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3287" y="10147767"/>
            <a:ext cx="29129439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7288" y="20256008"/>
            <a:ext cx="9367047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7288" y="33968355"/>
            <a:ext cx="9367047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439281" y="20309379"/>
            <a:ext cx="9367047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39281" y="33284738"/>
            <a:ext cx="9367047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341274" y="20309379"/>
            <a:ext cx="9367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341274" y="27632280"/>
            <a:ext cx="9367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ig_arc_intro_00dbd492_lar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9997" y="20994907"/>
            <a:ext cx="8642567" cy="10751297"/>
          </a:xfrm>
          <a:prstGeom prst="rect">
            <a:avLst/>
          </a:prstGeom>
        </p:spPr>
      </p:pic>
      <p:pic>
        <p:nvPicPr>
          <p:cNvPr id="33" name="Picture 32" descr="fig_three_causes_row_ILLUSTRATIV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9997" y="34361639"/>
            <a:ext cx="8642567" cy="3829862"/>
          </a:xfrm>
          <a:prstGeom prst="rect">
            <a:avLst/>
          </a:prstGeom>
        </p:spPr>
      </p:pic>
      <p:pic>
        <p:nvPicPr>
          <p:cNvPr id="34" name="Picture 33" descr="fig_real_rule_ka95aa62f67d9_lar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801870" y="20702818"/>
            <a:ext cx="8642567" cy="8582581"/>
          </a:xfrm>
          <a:prstGeom prst="rect">
            <a:avLst/>
          </a:prstGeom>
        </p:spPr>
      </p:pic>
      <p:pic>
        <p:nvPicPr>
          <p:cNvPr id="35" name="Picture 34" descr="fig_construction_58_outcomes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801870" y="35336026"/>
            <a:ext cx="8642567" cy="2537860"/>
          </a:xfrm>
          <a:prstGeom prst="rect">
            <a:avLst/>
          </a:prstGeom>
        </p:spPr>
      </p:pic>
      <p:pic>
        <p:nvPicPr>
          <p:cNvPr id="36" name="Picture 35" descr="fig_v2_uncertified_00dbd492_lar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703730" y="20702841"/>
            <a:ext cx="8642568" cy="429129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335293" y="744643"/>
            <a:ext cx="17656331" cy="1201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460" b="1" i="0">
                <a:solidFill>
                  <a:srgbClr val="0B0B0B"/>
                </a:solidFill>
                <a:latin typeface="Arial"/>
              </a:rPr>
              <a:t>LEARNING WHAT TO CHANGE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19142" y="2025213"/>
            <a:ext cx="21288761" cy="6009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730" b="0" i="0">
                <a:solidFill>
                  <a:srgbClr val="0B0B0B"/>
                </a:solidFill>
                <a:latin typeface="Arial"/>
              </a:rPr>
              <a:t>From Scientific Observations to Executable Reasoning and Hypothesis Revision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2188" y="2665326"/>
            <a:ext cx="9163195" cy="4615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0" i="0">
                <a:solidFill>
                  <a:srgbClr val="52514E"/>
                </a:solidFill>
                <a:latin typeface="Arial"/>
              </a:rPr>
              <a:t>Chimdi Walter Ndubuisi</a:t>
            </a:r>
            <a:r>
              <a:rPr sz="3590" b="0" i="1">
                <a:solidFill>
                  <a:srgbClr val="52514E"/>
                </a:solidFill>
                <a:latin typeface="Arial"/>
              </a:rPr>
              <a:t> </a:t>
            </a:r>
            <a:r>
              <a:rPr sz="3590" b="0" i="1">
                <a:solidFill>
                  <a:srgbClr val="52514E"/>
                </a:solidFill>
                <a:latin typeface="Arial"/>
              </a:rPr>
              <a:t>·</a:t>
            </a:r>
            <a:r>
              <a:rPr sz="3410" b="0" i="0">
                <a:solidFill>
                  <a:srgbClr val="52514E"/>
                </a:solidFill>
                <a:latin typeface="Arial"/>
              </a:rPr>
              <a:t> </a:t>
            </a:r>
            <a:r>
              <a:rPr sz="3410" b="0" i="0">
                <a:solidFill>
                  <a:srgbClr val="52514E"/>
                </a:solidFill>
                <a:latin typeface="Arial"/>
              </a:rPr>
              <a:t>University of Missouri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697300" y="2694136"/>
            <a:ext cx="12477532" cy="4327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0" i="0">
                <a:solidFill>
                  <a:srgbClr val="D03B3B"/>
                </a:solidFill>
                <a:latin typeface="Arial"/>
              </a:rPr>
              <a:t>REVIEW DRAFT 19 October:</a:t>
            </a:r>
            <a:r>
              <a:rPr sz="3410" b="0" i="0">
                <a:solidFill>
                  <a:srgbClr val="D03B3B"/>
                </a:solidFill>
                <a:latin typeface="Arial"/>
              </a:rPr>
              <a:t> </a:t>
            </a:r>
            <a:r>
              <a:rPr sz="3410" b="0" i="0">
                <a:solidFill>
                  <a:srgbClr val="D03B3B"/>
                </a:solidFill>
                <a:latin typeface="Arial"/>
              </a:rPr>
              <a:t>for collaborator review, not for print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5293" y="744643"/>
            <a:ext cx="17656331" cy="1201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460" b="1" i="0">
                <a:solidFill>
                  <a:srgbClr val="0B0B0B"/>
                </a:solidFill>
                <a:latin typeface="Arial"/>
              </a:rPr>
              <a:t>LEARNING WHAT TO CHANGE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19142" y="2025213"/>
            <a:ext cx="21288761" cy="6009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730" b="0" i="0">
                <a:solidFill>
                  <a:srgbClr val="0B0B0B"/>
                </a:solidFill>
                <a:latin typeface="Arial"/>
              </a:rPr>
              <a:t>From Scientific Observations to Executable Reasoning and Hypothesis Revision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52188" y="2665326"/>
            <a:ext cx="9163195" cy="4615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0" i="0">
                <a:solidFill>
                  <a:srgbClr val="52514E"/>
                </a:solidFill>
                <a:latin typeface="Arial"/>
              </a:rPr>
              <a:t>Chimdi Walter Ndubuisi</a:t>
            </a:r>
            <a:r>
              <a:rPr sz="3590" b="0" i="1">
                <a:solidFill>
                  <a:srgbClr val="52514E"/>
                </a:solidFill>
                <a:latin typeface="Arial"/>
              </a:rPr>
              <a:t> </a:t>
            </a:r>
            <a:r>
              <a:rPr sz="3590" b="0" i="1">
                <a:solidFill>
                  <a:srgbClr val="52514E"/>
                </a:solidFill>
                <a:latin typeface="Arial"/>
              </a:rPr>
              <a:t>·</a:t>
            </a:r>
            <a:r>
              <a:rPr sz="3410" b="0" i="0">
                <a:solidFill>
                  <a:srgbClr val="52514E"/>
                </a:solidFill>
                <a:latin typeface="Arial"/>
              </a:rPr>
              <a:t> </a:t>
            </a:r>
            <a:r>
              <a:rPr sz="3410" b="0" i="0">
                <a:solidFill>
                  <a:srgbClr val="52514E"/>
                </a:solidFill>
                <a:latin typeface="Arial"/>
              </a:rPr>
              <a:t>University of Missouri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697300" y="2694136"/>
            <a:ext cx="12477532" cy="4327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0" i="0">
                <a:solidFill>
                  <a:srgbClr val="D03B3B"/>
                </a:solidFill>
                <a:latin typeface="Arial"/>
              </a:rPr>
              <a:t>REVIEW DRAFT 19 October:</a:t>
            </a:r>
            <a:r>
              <a:rPr sz="3410" b="0" i="0">
                <a:solidFill>
                  <a:srgbClr val="D03B3B"/>
                </a:solidFill>
                <a:latin typeface="Arial"/>
              </a:rPr>
              <a:t> </a:t>
            </a:r>
            <a:r>
              <a:rPr sz="3410" b="0" i="0">
                <a:solidFill>
                  <a:srgbClr val="D03B3B"/>
                </a:solidFill>
                <a:latin typeface="Arial"/>
              </a:rPr>
              <a:t>for collaborator review, not for print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003" y="4520963"/>
            <a:ext cx="16381218" cy="673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300" b="1" i="0">
                <a:solidFill>
                  <a:srgbClr val="0B0B0B"/>
                </a:solidFill>
                <a:latin typeface="Arial"/>
              </a:rPr>
              <a:t>How can a machine learn the objects, relationships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6003" y="5356026"/>
            <a:ext cx="15114418" cy="673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300" b="1" i="0">
                <a:solidFill>
                  <a:srgbClr val="0B0B0B"/>
                </a:solidFill>
                <a:latin typeface="Arial"/>
              </a:rPr>
              <a:t>and rules in unfamiliar data—and know what 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6003" y="6191100"/>
            <a:ext cx="15301543" cy="6731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300" b="1" i="0">
                <a:solidFill>
                  <a:srgbClr val="0B0B0B"/>
                </a:solidFill>
                <a:latin typeface="Arial"/>
              </a:rPr>
              <a:t>reconsider when its explanation is not enough?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6003" y="7080209"/>
            <a:ext cx="17056330" cy="384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30" b="0" i="0">
                <a:solidFill>
                  <a:srgbClr val="52514E"/>
                </a:solidFill>
                <a:latin typeface="Arial"/>
              </a:rPr>
              <a:t>Biology illustrates the difficulty:</a:t>
            </a:r>
            <a:r>
              <a:rPr sz="3030" b="0" i="0">
                <a:solidFill>
                  <a:srgbClr val="52514E"/>
                </a:solidFill>
                <a:latin typeface="Arial"/>
              </a:rPr>
              <a:t> </a:t>
            </a:r>
            <a:r>
              <a:rPr sz="3030" b="0" i="0">
                <a:solidFill>
                  <a:srgbClr val="52514E"/>
                </a:solidFill>
                <a:latin typeface="Arial"/>
              </a:rPr>
              <a:t>measurements do not arrive with the correct entities, mechanisms 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003" y="7586305"/>
            <a:ext cx="5807262" cy="384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30" b="0" i="0">
                <a:solidFill>
                  <a:srgbClr val="52514E"/>
                </a:solidFill>
                <a:latin typeface="Arial"/>
              </a:rPr>
              <a:t>reasoning rules already identified.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772921" y="4235499"/>
            <a:ext cx="4719187" cy="264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1" i="0">
                <a:solidFill>
                  <a:srgbClr val="D03B3B"/>
                </a:solidFill>
                <a:latin typeface="Arial"/>
              </a:rPr>
              <a:t>ILLUSTRATIVE SCHEMATIC, not 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97240" y="6836418"/>
            <a:ext cx="3197877" cy="264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52514E"/>
                </a:solidFill>
                <a:latin typeface="Arial"/>
              </a:rPr>
              <a:t>maize lesion-mimic pattern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086841" y="5151029"/>
            <a:ext cx="858657" cy="13221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410" b="1" i="0">
                <a:solidFill>
                  <a:srgbClr val="52514E"/>
                </a:solidFill>
                <a:latin typeface="Arial"/>
              </a:rPr>
              <a:t>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772921" y="7377341"/>
            <a:ext cx="7692189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1" i="0">
                <a:solidFill>
                  <a:srgbClr val="0B0B0B"/>
                </a:solidFill>
                <a:latin typeface="Arial"/>
              </a:rPr>
              <a:t>What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</a:t>
            </a:r>
            <a:r>
              <a:rPr sz="2840" b="1" i="0">
                <a:solidFill>
                  <a:srgbClr val="0B0B0B"/>
                </a:solidFill>
                <a:latin typeface="Arial"/>
              </a:rPr>
              <a:t>process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</a:t>
            </a:r>
            <a:r>
              <a:rPr sz="2840" b="1" i="0">
                <a:solidFill>
                  <a:srgbClr val="0B0B0B"/>
                </a:solidFill>
                <a:latin typeface="Arial"/>
              </a:rPr>
              <a:t>could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</a:t>
            </a:r>
            <a:r>
              <a:rPr sz="2840" b="1" i="0">
                <a:solidFill>
                  <a:srgbClr val="0B0B0B"/>
                </a:solidFill>
                <a:latin typeface="Arial"/>
              </a:rPr>
              <a:t>explain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</a:t>
            </a:r>
            <a:r>
              <a:rPr sz="2840" b="1" i="0">
                <a:solidFill>
                  <a:srgbClr val="0B0B0B"/>
                </a:solidFill>
                <a:latin typeface="Arial"/>
              </a:rPr>
              <a:t>these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</a:t>
            </a:r>
            <a:r>
              <a:rPr sz="2840" b="1" i="0">
                <a:solidFill>
                  <a:srgbClr val="0B0B0B"/>
                </a:solidFill>
                <a:latin typeface="Arial"/>
              </a:rPr>
              <a:t>patterns?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772921" y="7893306"/>
            <a:ext cx="7377228" cy="384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1" i="0">
                <a:solidFill>
                  <a:srgbClr val="D03B3B"/>
                </a:solidFill>
                <a:latin typeface="Arial"/>
              </a:rPr>
              <a:t>Observed</a:t>
            </a:r>
            <a:r>
              <a:rPr sz="2840" b="1" i="0">
                <a:solidFill>
                  <a:srgbClr val="D03B3B"/>
                </a:solidFill>
                <a:latin typeface="Arial"/>
              </a:rPr>
              <a:t> </a:t>
            </a:r>
            <a:r>
              <a:rPr sz="2840" b="1" i="0">
                <a:solidFill>
                  <a:srgbClr val="D03B3B"/>
                </a:solidFill>
                <a:latin typeface="Arial"/>
              </a:rPr>
              <a:t>pattern</a:t>
            </a:r>
            <a:r>
              <a:rPr sz="2990" b="0" i="1">
                <a:solidFill>
                  <a:srgbClr val="D03B3B"/>
                </a:solidFill>
                <a:latin typeface="Arial"/>
              </a:rPr>
              <a:t≯</a:t>
            </a:r>
            <a:r>
              <a:rPr sz="2990" b="0" i="0">
                <a:solidFill>
                  <a:srgbClr val="D03B3B"/>
                </a:solidFill>
                <a:latin typeface="Arial"/>
              </a:rPr>
              <a:t> </a:t>
            </a:r>
            <a:r>
              <a:rPr sz="2990" b="0" i="0">
                <a:solidFill>
                  <a:srgbClr val="D03B3B"/>
                </a:solidFill>
                <a:latin typeface="Arial"/>
              </a:rPr>
              <a:t>=</a:t>
            </a:r>
            <a:r>
              <a:rPr sz="2840" b="1" i="0">
                <a:solidFill>
                  <a:srgbClr val="D03B3B"/>
                </a:solidFill>
                <a:latin typeface="Arial"/>
              </a:rPr>
              <a:t> </a:t>
            </a:r>
            <a:r>
              <a:rPr sz="2840" b="1" i="0">
                <a:solidFill>
                  <a:srgbClr val="D03B3B"/>
                </a:solidFill>
                <a:latin typeface="Arial"/>
              </a:rPr>
              <a:t>identified</a:t>
            </a:r>
            <a:r>
              <a:rPr sz="2840" b="1" i="0">
                <a:solidFill>
                  <a:srgbClr val="D03B3B"/>
                </a:solidFill>
                <a:latin typeface="Arial"/>
              </a:rPr>
              <a:t> </a:t>
            </a:r>
            <a:r>
              <a:rPr sz="2840" b="1" i="0">
                <a:solidFill>
                  <a:srgbClr val="D03B3B"/>
                </a:solidFill>
                <a:latin typeface="Arial"/>
              </a:rPr>
              <a:t>mechanism.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6015" y="9344723"/>
            <a:ext cx="4565948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One reasoning loop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88823" y="10625065"/>
            <a:ext cx="11499335" cy="3592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50" b="1" i="0">
                <a:solidFill>
                  <a:srgbClr val="EB6834"/>
                </a:solidFill>
                <a:latin typeface="Arial"/>
              </a:rPr>
              <a:t>BOTTLENECK 1</a:t>
            </a:r>
            <a:r>
              <a:rPr sz="2790" b="0" i="1">
                <a:solidFill>
                  <a:srgbClr val="EB6834"/>
                </a:solidFill>
                <a:latin typeface="Arial"/>
              </a:rPr>
              <a:t> </a:t>
            </a:r>
            <a:r>
              <a:rPr sz="2790" b="0" i="1">
                <a:solidFill>
                  <a:srgbClr val="EB6834"/>
                </a:solidFill>
                <a:latin typeface="Arial"/>
              </a:rPr>
              <a:t>·</a:t>
            </a:r>
            <a:r>
              <a:rPr sz="2650" b="1" i="0">
                <a:solidFill>
                  <a:srgbClr val="EB6834"/>
                </a:solidFill>
                <a:latin typeface="Arial"/>
              </a:rPr>
              <a:t> </a:t>
            </a:r>
            <a:r>
              <a:rPr sz="2650" b="1" i="0">
                <a:solidFill>
                  <a:srgbClr val="EB6834"/>
                </a:solidFill>
                <a:latin typeface="Arial"/>
              </a:rPr>
              <a:t>measured:</a:t>
            </a:r>
            <a:r>
              <a:rPr sz="2650" b="1" i="0">
                <a:solidFill>
                  <a:srgbClr val="EB6834"/>
                </a:solidFill>
                <a:latin typeface="Arial"/>
              </a:rPr>
              <a:t> </a:t>
            </a:r>
            <a:r>
              <a:rPr sz="2650" b="1" i="0">
                <a:solidFill>
                  <a:srgbClr val="EB6834"/>
                </a:solidFill>
                <a:latin typeface="Arial"/>
              </a:rPr>
              <a:t>CORA often cannot propose a usable rule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267197" y="15013922"/>
            <a:ext cx="2636222" cy="3365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50" b="1" i="0">
                <a:solidFill>
                  <a:srgbClr val="D03B3B"/>
                </a:solidFill>
                <a:latin typeface="Arial"/>
              </a:rPr>
              <a:t>BOTTLENECK</a:t>
            </a:r>
            <a:r>
              <a:rPr sz="2650" b="1" i="0">
                <a:solidFill>
                  <a:srgbClr val="D03B3B"/>
                </a:solidFill>
                <a:latin typeface="Arial"/>
              </a:rPr>
              <a:t> </a:t>
            </a:r>
            <a:r>
              <a:rPr sz="2650" b="1" i="0">
                <a:solidFill>
                  <a:srgbClr val="D03B3B"/>
                </a:solidFill>
                <a:latin typeface="Arial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267197" y="15431447"/>
            <a:ext cx="2748643" cy="3365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50" b="1" i="0">
                <a:solidFill>
                  <a:srgbClr val="D03B3B"/>
                </a:solidFill>
                <a:latin typeface="Arial"/>
              </a:rPr>
              <a:t>unproven:</a:t>
            </a:r>
            <a:r>
              <a:rPr sz="2650" b="1" i="0">
                <a:solidFill>
                  <a:srgbClr val="D03B3B"/>
                </a:solidFill>
                <a:latin typeface="Arial"/>
              </a:rPr>
              <a:t> </a:t>
            </a:r>
            <a:r>
              <a:rPr sz="2650" b="1" i="0">
                <a:solidFill>
                  <a:srgbClr val="D03B3B"/>
                </a:solidFill>
                <a:latin typeface="Arial"/>
              </a:rPr>
              <a:t>can</a:t>
            </a:r>
            <a:r>
              <a:rPr sz="2650" b="1" i="0">
                <a:solidFill>
                  <a:srgbClr val="D03B3B"/>
                </a:solidFill>
                <a:latin typeface="Arial"/>
              </a:rPr>
              <a:t> </a:t>
            </a:r>
            <a:r>
              <a:rPr sz="2650" b="1" i="0">
                <a:solidFill>
                  <a:srgbClr val="D03B3B"/>
                </a:solidFill>
                <a:latin typeface="Arial"/>
              </a:rPr>
              <a:t>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267197" y="15848984"/>
            <a:ext cx="3102364" cy="3365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50" b="1" i="0">
                <a:solidFill>
                  <a:srgbClr val="D03B3B"/>
                </a:solidFill>
                <a:latin typeface="Arial"/>
              </a:rPr>
              <a:t>learn</a:t>
            </a:r>
            <a:r>
              <a:rPr sz="2650" b="1" i="0">
                <a:solidFill>
                  <a:srgbClr val="D03B3B"/>
                </a:solidFill>
                <a:latin typeface="Arial"/>
              </a:rPr>
              <a:t> </a:t>
            </a:r>
            <a:r>
              <a:rPr sz="2650" b="1" i="0">
                <a:solidFill>
                  <a:srgbClr val="D03B3B"/>
                </a:solidFill>
                <a:latin typeface="Arial"/>
              </a:rPr>
              <a:t>which</a:t>
            </a:r>
            <a:r>
              <a:rPr sz="2650" b="1" i="0">
                <a:solidFill>
                  <a:srgbClr val="D03B3B"/>
                </a:solidFill>
                <a:latin typeface="Arial"/>
              </a:rPr>
              <a:t> </a:t>
            </a:r>
            <a:r>
              <a:rPr sz="2650" b="1" i="0">
                <a:solidFill>
                  <a:srgbClr val="D03B3B"/>
                </a:solidFill>
                <a:latin typeface="Arial"/>
              </a:rPr>
              <a:t>part</a:t>
            </a:r>
            <a:r>
              <a:rPr sz="2650" b="1" i="0">
                <a:solidFill>
                  <a:srgbClr val="D03B3B"/>
                </a:solidFill>
                <a:latin typeface="Arial"/>
              </a:rPr>
              <a:t> </a:t>
            </a:r>
            <a:r>
              <a:rPr sz="2650" b="1" i="0">
                <a:solidFill>
                  <a:srgbClr val="D03B3B"/>
                </a:solidFill>
                <a:latin typeface="Arial"/>
              </a:rPr>
              <a:t>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267197" y="16266521"/>
            <a:ext cx="1224376" cy="3365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50" b="1" i="0">
                <a:solidFill>
                  <a:srgbClr val="D03B3B"/>
                </a:solidFill>
                <a:latin typeface="Arial"/>
              </a:rPr>
              <a:t>revise?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15136" y="12023040"/>
            <a:ext cx="2846572" cy="3125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Scientific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question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01622" y="12514524"/>
            <a:ext cx="2073751" cy="264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0B0B0B"/>
                </a:solidFill>
                <a:latin typeface="Arial"/>
              </a:rPr>
              <a:t>what</a:t>
            </a:r>
            <a:r>
              <a:rPr sz="2080" b="0" i="0">
                <a:solidFill>
                  <a:srgbClr val="0B0B0B"/>
                </a:solidFill>
                <a:latin typeface="Arial"/>
              </a:rPr>
              <a:t> </a:t>
            </a:r>
            <a:r>
              <a:rPr sz="2080" b="0" i="0">
                <a:solidFill>
                  <a:srgbClr val="0B0B0B"/>
                </a:solidFill>
                <a:latin typeface="Arial"/>
              </a:rPr>
              <a:t>explains</a:t>
            </a:r>
            <a:r>
              <a:rPr sz="2080" b="0" i="0">
                <a:solidFill>
                  <a:srgbClr val="0B0B0B"/>
                </a:solidFill>
                <a:latin typeface="Arial"/>
              </a:rPr>
              <a:t> </a:t>
            </a:r>
            <a:r>
              <a:rPr sz="2080" b="0" i="0">
                <a:solidFill>
                  <a:srgbClr val="0B0B0B"/>
                </a:solidFill>
                <a:latin typeface="Arial"/>
              </a:rPr>
              <a:t>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55444" y="12906751"/>
            <a:ext cx="1566029" cy="264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0B0B0B"/>
                </a:solidFill>
                <a:latin typeface="Arial"/>
              </a:rPr>
              <a:t>observation?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75973" y="11995141"/>
            <a:ext cx="2044967" cy="3125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Observations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29733" y="12469019"/>
            <a:ext cx="2937449" cy="282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0B0B0B"/>
                </a:solidFill>
                <a:latin typeface="Arial"/>
              </a:rPr>
              <a:t>images</a:t>
            </a:r>
            <a:r>
              <a:rPr sz="2190" b="0" i="1">
                <a:solidFill>
                  <a:srgbClr val="0B0B0B"/>
                </a:solidFill>
                <a:latin typeface="Arial"/>
              </a:rPr>
              <a:t> </a:t>
            </a:r>
            <a:r>
              <a:rPr sz="2190" b="0" i="1">
                <a:solidFill>
                  <a:srgbClr val="0B0B0B"/>
                </a:solidFill>
                <a:latin typeface="Arial"/>
              </a:rPr>
              <a:t>·</a:t>
            </a:r>
            <a:r>
              <a:rPr sz="2080" b="0" i="0">
                <a:solidFill>
                  <a:srgbClr val="0B0B0B"/>
                </a:solidFill>
                <a:latin typeface="Arial"/>
              </a:rPr>
              <a:t> </a:t>
            </a:r>
            <a:r>
              <a:rPr sz="2080" b="0" i="0">
                <a:solidFill>
                  <a:srgbClr val="0B0B0B"/>
                </a:solidFill>
                <a:latin typeface="Arial"/>
              </a:rPr>
              <a:t>measurements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63945" y="12861246"/>
            <a:ext cx="1469059" cy="282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90" b="0" i="1">
                <a:solidFill>
                  <a:srgbClr val="0B0B0B"/>
                </a:solidFill>
                <a:latin typeface="Arial"/>
              </a:rPr>
              <a:t>·</a:t>
            </a:r>
            <a:r>
              <a:rPr sz="2080" b="0" i="0">
                <a:solidFill>
                  <a:srgbClr val="0B0B0B"/>
                </a:solidFill>
                <a:latin typeface="Arial"/>
              </a:rPr>
              <a:t> </a:t>
            </a:r>
            <a:r>
              <a:rPr sz="2080" b="0" i="0">
                <a:solidFill>
                  <a:srgbClr val="0B0B0B"/>
                </a:solidFill>
                <a:latin typeface="Arial"/>
              </a:rPr>
              <a:t>ARC</a:t>
            </a:r>
            <a:r>
              <a:rPr sz="2080" b="0" i="0">
                <a:solidFill>
                  <a:srgbClr val="0B0B0B"/>
                </a:solidFill>
                <a:latin typeface="Arial"/>
              </a:rPr>
              <a:t> </a:t>
            </a:r>
            <a:r>
              <a:rPr sz="2080" b="0" i="0">
                <a:solidFill>
                  <a:srgbClr val="0B0B0B"/>
                </a:solidFill>
                <a:latin typeface="Arial"/>
              </a:rPr>
              <a:t>grids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86687" y="11310985"/>
            <a:ext cx="4703596" cy="264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1">
                <a:solidFill>
                  <a:srgbClr val="52514E"/>
                </a:solidFill>
                <a:latin typeface="Arial"/>
              </a:rPr>
              <a:t>visible evidence only:</a:t>
            </a:r>
            <a:r>
              <a:rPr sz="2080" b="0" i="1">
                <a:solidFill>
                  <a:srgbClr val="52514E"/>
                </a:solidFill>
                <a:latin typeface="Arial"/>
              </a:rPr>
              <a:t> </a:t>
            </a:r>
            <a:r>
              <a:rPr sz="2080" b="0" i="1">
                <a:solidFill>
                  <a:srgbClr val="52514E"/>
                </a:solidFill>
                <a:latin typeface="Arial"/>
              </a:rPr>
              <a:t>no hidden answer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6004" y="18291885"/>
            <a:ext cx="17405800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Solid: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implemented and tested.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Dashed: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proposed.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Grey: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context.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A tested revision is not automatically a correct explanation.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9997" y="19553797"/>
            <a:ext cx="6826647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ARC is our controlled testbed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9997" y="20628849"/>
            <a:ext cx="7461776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Few examples, a new input, one exact answer.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9997" y="31910539"/>
            <a:ext cx="6817095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Rule: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each frame’s fill colour depends on its size.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9997" y="33172462"/>
            <a:ext cx="3167315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Why rules fail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9997" y="38355823"/>
            <a:ext cx="7202430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Memorization: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fits the examples, fails the new input.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01870" y="19553797"/>
            <a:ext cx="8304779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Done:</a:t>
            </a:r>
            <a:r>
              <a:rPr sz="3790" b="1" i="0">
                <a:solidFill>
                  <a:srgbClr val="2A78D6"/>
                </a:solidFill>
                <a:latin typeface="Arial"/>
              </a:rPr>
              <a:t> </a:t>
            </a:r>
            <a:r>
              <a:rPr sz="3790" b="1" i="0">
                <a:solidFill>
                  <a:srgbClr val="2A78D6"/>
                </a:solidFill>
                <a:latin typeface="Arial"/>
              </a:rPr>
              <a:t>a rule CORA built</a:t>
            </a:r>
            <a:r>
              <a:rPr sz="2460" b="1" i="0">
                <a:solidFill>
                  <a:srgbClr val="0CA30C"/>
                </a:solidFill>
                <a:latin typeface="Arial"/>
              </a:rPr>
              <a:t> [DONE, NARROW]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01870" y="29488634"/>
            <a:ext cx="7741504" cy="3608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1" i="0">
                <a:solidFill>
                  <a:srgbClr val="0B0B0B"/>
                </a:solidFill>
                <a:latin typeface="Arial"/>
              </a:rPr>
              <a:t>Rule:</a:t>
            </a:r>
            <a:r>
              <a:rPr sz="2840" b="1" i="0">
                <a:solidFill>
                  <a:srgbClr val="0074D9"/>
                </a:solidFill>
                <a:latin typeface="Arial"/>
              </a:rPr>
              <a:t> </a:t>
            </a:r>
            <a:r>
              <a:rPr sz="2840" b="1" i="0">
                <a:solidFill>
                  <a:srgbClr val="0074D9"/>
                </a:solidFill>
                <a:latin typeface="Arial"/>
              </a:rPr>
              <a:t>blue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objects send a line up-left;</a:t>
            </a:r>
            <a:r>
              <a:rPr sz="2840" b="1" i="0">
                <a:solidFill>
                  <a:srgbClr val="FF4136"/>
                </a:solidFill>
                <a:latin typeface="Arial"/>
              </a:rPr>
              <a:t> red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ones,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01870" y="29969432"/>
            <a:ext cx="1834310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down-right.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01870" y="30519495"/>
            <a:ext cx="8251256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Rebuilt 3 of 3 times with one example hidden; correct on an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801870" y="30924385"/>
            <a:ext cx="8010302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exposed training task, not a competition solve.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Also found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01870" y="31329259"/>
            <a:ext cx="3550053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without the failure record.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01870" y="32528991"/>
            <a:ext cx="4872905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Where it fails</a:t>
            </a:r>
            <a:r>
              <a:rPr sz="2460" b="1" i="0">
                <a:solidFill>
                  <a:srgbClr val="D03B3B"/>
                </a:solidFill>
                <a:latin typeface="Arial"/>
              </a:rPr>
              <a:t> [NEGATIVE]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318413" y="33621212"/>
            <a:ext cx="3659649" cy="1442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360" b="1" i="0">
                <a:solidFill>
                  <a:srgbClr val="D03B3B"/>
                </a:solidFill>
                <a:latin typeface="Arial"/>
              </a:rPr>
              <a:t>0 / 58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615863" y="34969570"/>
            <a:ext cx="7064750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new verified solutions from rule construction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01870" y="38038223"/>
            <a:ext cx="5020133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Every variant: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0; no wrong answers.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703730" y="19553797"/>
            <a:ext cx="5703978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Visible doubt</a:t>
            </a:r>
            <a:r>
              <a:rPr sz="2460" b="1" i="0">
                <a:solidFill>
                  <a:srgbClr val="EB6834"/>
                </a:solidFill>
                <a:latin typeface="Arial"/>
              </a:rPr>
              <a:t> [DEVELOPMENT]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703730" y="25158456"/>
            <a:ext cx="8091234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One example decides the green fill, so CORA-v2 keeps its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703730" y="25563345"/>
            <a:ext cx="3554434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correct guess uncertified.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703730" y="26829013"/>
            <a:ext cx="8378792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Next:</a:t>
            </a:r>
            <a:r>
              <a:rPr sz="3790" b="1" i="0">
                <a:solidFill>
                  <a:srgbClr val="2A78D6"/>
                </a:solidFill>
                <a:latin typeface="Arial"/>
              </a:rPr>
              <a:t> </a:t>
            </a:r>
            <a:r>
              <a:rPr sz="3790" b="1" i="0">
                <a:solidFill>
                  <a:srgbClr val="2A78D6"/>
                </a:solidFill>
                <a:latin typeface="Arial"/>
              </a:rPr>
              <a:t>learning inside CORA</a:t>
            </a:r>
            <a:r>
              <a:rPr sz="2460" b="1" i="0">
                <a:solidFill>
                  <a:srgbClr val="52514E"/>
                </a:solidFill>
                <a:latin typeface="Arial"/>
              </a:rPr>
              <a:t> [PROPOSED]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703730" y="32224293"/>
            <a:ext cx="8482249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A trained prior would only order CORA’s own search.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703730" y="32705088"/>
            <a:ext cx="2167855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No result yet.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703730" y="33363330"/>
            <a:ext cx="8443765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NVARC (published Qwen3-4B method), reproduced: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27.64%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703730" y="33768217"/>
            <a:ext cx="8632516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public.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Native CORA and CORA with rule construction: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0.00%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703730" y="34173095"/>
            <a:ext cx="947725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public.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6003" y="39618697"/>
            <a:ext cx="28410295" cy="4567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 i="0">
                <a:solidFill>
                  <a:srgbClr val="0B0B0B"/>
                </a:solidFill>
                <a:latin typeface="Arial"/>
              </a:rPr>
              <a:t>If revision selection works on ARC, test the reasoning procedure—not ARC grid operations—on independently validated biological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36003" y="40226025"/>
            <a:ext cx="5257812" cy="456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 i="0">
                <a:solidFill>
                  <a:srgbClr val="0B0B0B"/>
                </a:solidFill>
                <a:latin typeface="Arial"/>
              </a:rPr>
              <a:t>questions.</a:t>
            </a:r>
            <a:r>
              <a:rPr sz="3600" b="1" i="0">
                <a:solidFill>
                  <a:srgbClr val="D03B3B"/>
                </a:solidFill>
                <a:latin typeface="Arial"/>
              </a:rPr>
              <a:t> </a:t>
            </a:r>
            <a:r>
              <a:rPr sz="3600" b="1" i="0">
                <a:solidFill>
                  <a:srgbClr val="D03B3B"/>
                </a:solidFill>
                <a:latin typeface="Arial"/>
              </a:rPr>
              <a:t>[UNTESTED]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6003" y="40858228"/>
            <a:ext cx="28225581" cy="278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52514E"/>
                </a:solidFill>
                <a:latin typeface="Arial"/>
              </a:rPr>
              <a:t>Prior work: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Popper (Cropper &amp; Morel 2021), DreamCoder (Ellis et al.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2021), LILO (Grand et al.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2024), Model Discovery Agent (Murphy 2026); details in the explainer.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Numbers:</a:t>
            </a:r>
            <a:r>
              <a:rPr sz="2190" b="0" i="0">
                <a:solidFill>
                  <a:srgbClr val="52514E"/>
                </a:solidFill>
                <a:latin typeface="Courier New"/>
              </a:rPr>
              <a:t> </a:t>
            </a:r>
            <a:r>
              <a:rPr sz="2190" b="0" i="0">
                <a:solidFill>
                  <a:srgbClr val="52514E"/>
                </a:solidFill>
                <a:latin typeface="Courier New"/>
              </a:rPr>
              <a:t>records/CORA_SUMMIT_CLAIM_LEDGER_20261017.md</a:t>
            </a:r>
            <a:r>
              <a:rPr sz="2080" b="0" i="0">
                <a:solidFill>
                  <a:srgbClr val="52514E"/>
                </a:solidFill>
                <a:latin typeface="Arial"/>
              </a:rPr>
              <a:t>.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AI coding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6002" y="41200471"/>
            <a:ext cx="6715961" cy="264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52514E"/>
                </a:solidFill>
                <a:latin typeface="Arial"/>
              </a:rPr>
              <a:t>assistance used.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Authorship pending collaborator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What to Change (CORA, ARC Prize Research Summit 2026), visual review draft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